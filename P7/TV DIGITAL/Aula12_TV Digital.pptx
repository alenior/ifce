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7"/>
  </p:notesMasterIdLst>
  <p:sldIdLst>
    <p:sldId id="256" r:id="rId2"/>
    <p:sldId id="322" r:id="rId3"/>
    <p:sldId id="346" r:id="rId4"/>
    <p:sldId id="363" r:id="rId5"/>
    <p:sldId id="381" r:id="rId6"/>
    <p:sldId id="382" r:id="rId7"/>
    <p:sldId id="383" r:id="rId8"/>
    <p:sldId id="385" r:id="rId9"/>
    <p:sldId id="386" r:id="rId10"/>
    <p:sldId id="387" r:id="rId11"/>
    <p:sldId id="384" r:id="rId12"/>
    <p:sldId id="388" r:id="rId13"/>
    <p:sldId id="390" r:id="rId14"/>
    <p:sldId id="389" r:id="rId15"/>
    <p:sldId id="392" r:id="rId16"/>
    <p:sldId id="391" r:id="rId17"/>
    <p:sldId id="393" r:id="rId18"/>
    <p:sldId id="394" r:id="rId19"/>
    <p:sldId id="395" r:id="rId20"/>
    <p:sldId id="396" r:id="rId21"/>
    <p:sldId id="397" r:id="rId22"/>
    <p:sldId id="398" r:id="rId23"/>
    <p:sldId id="399" r:id="rId24"/>
    <p:sldId id="400" r:id="rId25"/>
    <p:sldId id="401"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11" autoAdjust="0"/>
    <p:restoredTop sz="94660"/>
  </p:normalViewPr>
  <p:slideViewPr>
    <p:cSldViewPr snapToGrid="0">
      <p:cViewPr varScale="1">
        <p:scale>
          <a:sx n="82" d="100"/>
          <a:sy n="82" d="100"/>
        </p:scale>
        <p:origin x="154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5DB5E3-2948-4F50-8824-AE06E1D0A06B}" type="datetimeFigureOut">
              <a:rPr lang="pt-BR" smtClean="0"/>
              <a:t>24/06/2025</a:t>
            </a:fld>
            <a:endParaRPr lang="pt-BR"/>
          </a:p>
        </p:txBody>
      </p:sp>
      <p:sp>
        <p:nvSpPr>
          <p:cNvPr id="4" name="Espaço Reservado para Imagem de Slid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9C26F-9422-4EA0-A797-93FA282CF1B1}" type="slidenum">
              <a:rPr lang="pt-BR" smtClean="0"/>
              <a:t>‹nº›</a:t>
            </a:fld>
            <a:endParaRPr lang="pt-BR"/>
          </a:p>
        </p:txBody>
      </p:sp>
    </p:spTree>
    <p:extLst>
      <p:ext uri="{BB962C8B-B14F-4D97-AF65-F5344CB8AC3E}">
        <p14:creationId xmlns:p14="http://schemas.microsoft.com/office/powerpoint/2010/main" val="292437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3270697"/>
            <a:ext cx="7989752" cy="2009022"/>
          </a:xfrm>
          <a:effectLst/>
        </p:spPr>
        <p:txBody>
          <a:bodyPr anchor="ctr">
            <a:normAutofit/>
          </a:bodyPr>
          <a:lstStyle>
            <a:lvl1pPr>
              <a:defRPr sz="3600" b="1">
                <a:solidFill>
                  <a:schemeClr val="bg1"/>
                </a:solidFill>
              </a:defRPr>
            </a:lvl1pPr>
          </a:lstStyle>
          <a:p>
            <a:r>
              <a:rPr lang="pt-BR" dirty="0"/>
              <a:t>Clique para editar o título mestre</a:t>
            </a:r>
            <a:endParaRPr lang="en-US" dirty="0"/>
          </a:p>
        </p:txBody>
      </p:sp>
      <p:sp>
        <p:nvSpPr>
          <p:cNvPr id="3" name="Subtitle 2"/>
          <p:cNvSpPr>
            <a:spLocks noGrp="1"/>
          </p:cNvSpPr>
          <p:nvPr>
            <p:ph type="subTitle" idx="1"/>
          </p:nvPr>
        </p:nvSpPr>
        <p:spPr>
          <a:xfrm>
            <a:off x="581192" y="5507892"/>
            <a:ext cx="7989752" cy="654500"/>
          </a:xfrm>
        </p:spPr>
        <p:txBody>
          <a:bodyPr anchor="ctr">
            <a:normAutofit/>
          </a:bodyPr>
          <a:lstStyle>
            <a:lvl1pPr marL="0" indent="0" algn="l">
              <a:buNone/>
              <a:defRPr sz="2000" cap="all">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subtítulo Mestre</a:t>
            </a:r>
            <a:endParaRPr lang="en-US" dirty="0"/>
          </a:p>
        </p:txBody>
      </p:sp>
      <p:pic>
        <p:nvPicPr>
          <p:cNvPr id="8" name="Imagem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8534" y="629058"/>
            <a:ext cx="6515067" cy="2379277"/>
          </a:xfrm>
          <a:prstGeom prst="rect">
            <a:avLst/>
          </a:prstGeom>
        </p:spPr>
      </p:pic>
    </p:spTree>
    <p:extLst>
      <p:ext uri="{BB962C8B-B14F-4D97-AF65-F5344CB8AC3E}">
        <p14:creationId xmlns:p14="http://schemas.microsoft.com/office/powerpoint/2010/main" val="910576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687474"/>
            <a:ext cx="4640930" cy="1083329"/>
          </a:xfrm>
        </p:spPr>
        <p:txBody>
          <a:bodyPr anchor="ctr">
            <a:normAutofit/>
          </a:bodyPr>
          <a:lstStyle>
            <a:lvl1pPr>
              <a:defRPr sz="3200"/>
            </a:lvl1pPr>
          </a:lstStyle>
          <a:p>
            <a:r>
              <a:rPr lang="pt-BR" dirty="0"/>
              <a:t>Clique para editar o título mestre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endParaRPr lang="en-US" dirty="0"/>
          </a:p>
        </p:txBody>
      </p:sp>
      <p:sp>
        <p:nvSpPr>
          <p:cNvPr id="4" name="Date Placeholder 3"/>
          <p:cNvSpPr>
            <a:spLocks noGrp="1"/>
          </p:cNvSpPr>
          <p:nvPr>
            <p:ph type="dt" sz="half" idx="10"/>
          </p:nvPr>
        </p:nvSpPr>
        <p:spPr/>
        <p:txBody>
          <a:bodyPr/>
          <a:lstStyle/>
          <a:p>
            <a:fld id="{7783325D-79A5-4688-A5E6-0F8C9B164ED9}" type="datetime1">
              <a:rPr lang="pt-BR" smtClean="0"/>
              <a:t>24/06/2025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BE0564A3-54D4-484B-AD36-546867F49A39}" type="slidenum">
              <a:rPr lang="pt-BR" smtClean="0"/>
              <a:t>‹nº›</a:t>
            </a:fld>
            <a:endParaRPr lang="pt-BR"/>
          </a:p>
        </p:txBody>
      </p:sp>
      <p:pic>
        <p:nvPicPr>
          <p:cNvPr id="8" name="Imagem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7977" y="638804"/>
            <a:ext cx="3232967" cy="1180667"/>
          </a:xfrm>
          <a:prstGeom prst="rect">
            <a:avLst/>
          </a:prstGeom>
        </p:spPr>
      </p:pic>
    </p:spTree>
    <p:extLst>
      <p:ext uri="{BB962C8B-B14F-4D97-AF65-F5344CB8AC3E}">
        <p14:creationId xmlns:p14="http://schemas.microsoft.com/office/powerpoint/2010/main" val="2664399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D984D691-CD09-4DB8-8EB4-5265295325C4}" type="datetime1">
              <a:rPr lang="pt-BR" smtClean="0"/>
              <a:t>24/06/2025</a:t>
            </a:fld>
            <a:endParaRPr lang="pt-B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pt-B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E0564A3-54D4-484B-AD36-546867F49A39}" type="slidenum">
              <a:rPr lang="pt-BR" smtClean="0"/>
              <a:t>‹nº›</a:t>
            </a:fld>
            <a:endParaRPr lang="pt-BR"/>
          </a:p>
        </p:txBody>
      </p:sp>
    </p:spTree>
    <p:extLst>
      <p:ext uri="{BB962C8B-B14F-4D97-AF65-F5344CB8AC3E}">
        <p14:creationId xmlns:p14="http://schemas.microsoft.com/office/powerpoint/2010/main" val="1116900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CB066085-25DB-418A-B5E1-54F1E838213F}" type="datetime1">
              <a:rPr lang="pt-BR" smtClean="0"/>
              <a:t>24/06/2025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BE0564A3-54D4-484B-AD36-546867F49A39}" type="slidenum">
              <a:rPr lang="pt-BR" smtClean="0"/>
              <a:t>‹nº›</a:t>
            </a:fld>
            <a:endParaRPr lang="pt-BR"/>
          </a:p>
        </p:txBody>
      </p:sp>
    </p:spTree>
    <p:extLst>
      <p:ext uri="{BB962C8B-B14F-4D97-AF65-F5344CB8AC3E}">
        <p14:creationId xmlns:p14="http://schemas.microsoft.com/office/powerpoint/2010/main" val="3958589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3C05F649-C94E-4C99-9BE4-32ECD27AB50F}" type="datetime1">
              <a:rPr lang="pt-BR" smtClean="0"/>
              <a:t>24/06/2025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BE0564A3-54D4-484B-AD36-546867F49A39}" type="slidenum">
              <a:rPr lang="pt-BR" smtClean="0"/>
              <a:t>‹nº›</a:t>
            </a:fld>
            <a:endParaRPr lang="pt-BR"/>
          </a:p>
        </p:txBody>
      </p:sp>
    </p:spTree>
    <p:extLst>
      <p:ext uri="{BB962C8B-B14F-4D97-AF65-F5344CB8AC3E}">
        <p14:creationId xmlns:p14="http://schemas.microsoft.com/office/powerpoint/2010/main" val="3213147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2F7AB829-D581-4665-96B0-996068420369}" type="datetime1">
              <a:rPr lang="pt-BR" smtClean="0"/>
              <a:t>24/06/2025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BE0564A3-54D4-484B-AD36-546867F49A39}" type="slidenum">
              <a:rPr lang="pt-BR" smtClean="0"/>
              <a:t>‹nº›</a:t>
            </a:fld>
            <a:endParaRPr lang="pt-BR"/>
          </a:p>
        </p:txBody>
      </p:sp>
    </p:spTree>
    <p:extLst>
      <p:ext uri="{BB962C8B-B14F-4D97-AF65-F5344CB8AC3E}">
        <p14:creationId xmlns:p14="http://schemas.microsoft.com/office/powerpoint/2010/main" val="1903067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ADB299-0DCE-493F-986B-CE000537CCA3}" type="datetime1">
              <a:rPr lang="pt-BR" smtClean="0"/>
              <a:t>24/06/2025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BE0564A3-54D4-484B-AD36-546867F49A39}" type="slidenum">
              <a:rPr lang="pt-BR" smtClean="0"/>
              <a:t>‹nº›</a:t>
            </a:fld>
            <a:endParaRPr lang="pt-BR"/>
          </a:p>
        </p:txBody>
      </p:sp>
    </p:spTree>
    <p:extLst>
      <p:ext uri="{BB962C8B-B14F-4D97-AF65-F5344CB8AC3E}">
        <p14:creationId xmlns:p14="http://schemas.microsoft.com/office/powerpoint/2010/main" val="2440715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pt-BR"/>
              <a:t>Clique para editar o título mestre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A8378BD4-78FC-4061-B86F-8E557D07F491}" type="datetime1">
              <a:rPr lang="pt-BR" smtClean="0"/>
              <a:t>24/06/2025</a:t>
            </a:fld>
            <a:endParaRPr lang="pt-B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pt-B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E0564A3-54D4-484B-AD36-546867F49A39}" type="slidenum">
              <a:rPr lang="pt-BR" smtClean="0"/>
              <a:t>‹nº›</a:t>
            </a:fld>
            <a:endParaRPr lang="pt-BR"/>
          </a:p>
        </p:txBody>
      </p:sp>
    </p:spTree>
    <p:extLst>
      <p:ext uri="{BB962C8B-B14F-4D97-AF65-F5344CB8AC3E}">
        <p14:creationId xmlns:p14="http://schemas.microsoft.com/office/powerpoint/2010/main" val="90564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0FF3F0D0-C9C7-420B-81F3-C74C3D5AABCF}" type="datetime1">
              <a:rPr lang="pt-BR" smtClean="0"/>
              <a:t>24/06/2025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BE0564A3-54D4-484B-AD36-546867F49A39}" type="slidenum">
              <a:rPr lang="pt-BR" smtClean="0"/>
              <a:t>‹nº›</a:t>
            </a:fld>
            <a:endParaRPr lang="pt-BR"/>
          </a:p>
        </p:txBody>
      </p:sp>
    </p:spTree>
    <p:extLst>
      <p:ext uri="{BB962C8B-B14F-4D97-AF65-F5344CB8AC3E}">
        <p14:creationId xmlns:p14="http://schemas.microsoft.com/office/powerpoint/2010/main" val="1357226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0FB5964-17E2-4FEB-A78A-1A4279B4E3FA}" type="datetime1">
              <a:rPr lang="pt-BR" smtClean="0"/>
              <a:t>24/06/2025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BE0564A3-54D4-484B-AD36-546867F49A39}" type="slidenum">
              <a:rPr lang="pt-BR" smtClean="0"/>
              <a:t>‹nº›</a:t>
            </a:fld>
            <a:endParaRPr lang="pt-BR"/>
          </a:p>
        </p:txBody>
      </p:sp>
    </p:spTree>
    <p:extLst>
      <p:ext uri="{BB962C8B-B14F-4D97-AF65-F5344CB8AC3E}">
        <p14:creationId xmlns:p14="http://schemas.microsoft.com/office/powerpoint/2010/main" val="758058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AC1716DD-6962-4492-918D-E30F60EF3FA3}" type="datetime1">
              <a:rPr lang="pt-BR" smtClean="0"/>
              <a:t>24/06/2025</a:t>
            </a:fld>
            <a:endParaRPr lang="pt-BR"/>
          </a:p>
        </p:txBody>
      </p:sp>
      <p:sp>
        <p:nvSpPr>
          <p:cNvPr id="5" name="Footer Placeholder 4"/>
          <p:cNvSpPr>
            <a:spLocks noGrp="1"/>
          </p:cNvSpPr>
          <p:nvPr>
            <p:ph type="ftr" sz="quarter" idx="11"/>
          </p:nvPr>
        </p:nvSpPr>
        <p:spPr>
          <a:xfrm>
            <a:off x="581192" y="5951810"/>
            <a:ext cx="5922209" cy="365125"/>
          </a:xfrm>
        </p:spPr>
        <p:txBody>
          <a:bodyPr/>
          <a:lstStyle/>
          <a:p>
            <a:endParaRPr lang="pt-B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E0564A3-54D4-484B-AD36-546867F49A39}" type="slidenum">
              <a:rPr lang="pt-BR" smtClean="0"/>
              <a:t>‹nº›</a:t>
            </a:fld>
            <a:endParaRPr lang="pt-BR"/>
          </a:p>
        </p:txBody>
      </p:sp>
    </p:spTree>
    <p:extLst>
      <p:ext uri="{BB962C8B-B14F-4D97-AF65-F5344CB8AC3E}">
        <p14:creationId xmlns:p14="http://schemas.microsoft.com/office/powerpoint/2010/main" val="3877226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pt-BR"/>
              <a:t>Clique para editar o título mestre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t">
            <a:normAutofit/>
          </a:bodyPr>
          <a:lstStyle/>
          <a:p>
            <a:pPr lvl="0"/>
            <a:r>
              <a:rPr lang="pt-BR" dirty="0"/>
              <a:t> Editar estilos de texto Mestre</a:t>
            </a:r>
          </a:p>
          <a:p>
            <a:pPr lvl="1"/>
            <a:r>
              <a:rPr lang="pt-BR" dirty="0"/>
              <a:t> Segundo nível</a:t>
            </a:r>
          </a:p>
          <a:p>
            <a:pPr lvl="2"/>
            <a:r>
              <a:rPr lang="pt-BR" dirty="0"/>
              <a:t> Terceiro nível</a:t>
            </a:r>
          </a:p>
          <a:p>
            <a:pPr lvl="3"/>
            <a:r>
              <a:rPr lang="pt-BR" dirty="0"/>
              <a:t> Quarto nível</a:t>
            </a:r>
          </a:p>
          <a:p>
            <a:pPr lvl="4"/>
            <a:r>
              <a:rPr lang="pt-BR" dirty="0"/>
              <a:t> Quinto nível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1600">
                <a:solidFill>
                  <a:schemeClr val="accent2"/>
                </a:solidFill>
              </a:defRPr>
            </a:lvl1pPr>
          </a:lstStyle>
          <a:p>
            <a:fld id="{1A113A3A-8002-4BEB-87C4-2273A0C387C3}" type="datetime1">
              <a:rPr lang="pt-BR" smtClean="0"/>
              <a:t>24/06/2025</a:t>
            </a:fld>
            <a:endParaRPr lang="pt-BR" dirty="0"/>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1600" cap="all">
                <a:solidFill>
                  <a:schemeClr val="accent2"/>
                </a:solidFill>
              </a:defRPr>
            </a:lvl1pPr>
          </a:lstStyle>
          <a:p>
            <a:endParaRPr lang="pt-BR" dirty="0"/>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1600">
                <a:solidFill>
                  <a:schemeClr val="accent2"/>
                </a:solidFill>
              </a:defRPr>
            </a:lvl1pPr>
          </a:lstStyle>
          <a:p>
            <a:fld id="{BE0564A3-54D4-484B-AD36-546867F49A39}" type="slidenum">
              <a:rPr lang="pt-BR" smtClean="0"/>
              <a:pPr/>
              <a:t>‹nº›</a:t>
            </a:fld>
            <a:endParaRPr lang="pt-BR" dirty="0"/>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396812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charset="2"/>
        <a:buChar char=""/>
        <a:defRPr sz="3600" kern="1200">
          <a:solidFill>
            <a:schemeClr val="tx2"/>
          </a:solidFill>
          <a:latin typeface="Times New Roman" panose="02020603050405020304" pitchFamily="18" charset="0"/>
          <a:ea typeface="+mn-ea"/>
          <a:cs typeface="Times New Roman" panose="02020603050405020304" pitchFamily="18" charset="0"/>
        </a:defRPr>
      </a:lvl1pPr>
      <a:lvl2pPr marL="630000" indent="-306000" algn="l" defTabSz="457200" rtl="0" eaLnBrk="1" latinLnBrk="0" hangingPunct="1">
        <a:spcBef>
          <a:spcPct val="20000"/>
        </a:spcBef>
        <a:spcAft>
          <a:spcPts val="600"/>
        </a:spcAft>
        <a:buClr>
          <a:schemeClr val="accent2"/>
        </a:buClr>
        <a:buSzPct val="92000"/>
        <a:buFont typeface="Wingdings" panose="05000000000000000000" pitchFamily="2" charset="2"/>
        <a:buChar char="q"/>
        <a:defRPr sz="3200" kern="1200">
          <a:solidFill>
            <a:schemeClr val="tx2"/>
          </a:solidFill>
          <a:latin typeface="Times New Roman" panose="02020603050405020304" pitchFamily="18" charset="0"/>
          <a:ea typeface="+mn-ea"/>
          <a:cs typeface="Times New Roman" panose="02020603050405020304" pitchFamily="18" charset="0"/>
        </a:defRPr>
      </a:lvl2pPr>
      <a:lvl3pPr marL="900000" indent="-270000" algn="l" defTabSz="457200" rtl="0" eaLnBrk="1" latinLnBrk="0" hangingPunct="1">
        <a:spcBef>
          <a:spcPct val="20000"/>
        </a:spcBef>
        <a:spcAft>
          <a:spcPts val="600"/>
        </a:spcAft>
        <a:buClr>
          <a:schemeClr val="accent2"/>
        </a:buClr>
        <a:buSzPct val="92000"/>
        <a:buFont typeface="Courier New" panose="02070309020205020404" pitchFamily="49" charset="0"/>
        <a:buChar char="o"/>
        <a:defRPr sz="2800" kern="1200">
          <a:solidFill>
            <a:schemeClr val="tx2"/>
          </a:solidFill>
          <a:latin typeface="Times New Roman" panose="02020603050405020304" pitchFamily="18" charset="0"/>
          <a:ea typeface="+mn-ea"/>
          <a:cs typeface="Times New Roman" panose="02020603050405020304" pitchFamily="18" charset="0"/>
        </a:defRPr>
      </a:lvl3pPr>
      <a:lvl4pPr marL="1242000" indent="-234000" algn="l" defTabSz="457200" rtl="0" eaLnBrk="1" latinLnBrk="0" hangingPunct="1">
        <a:spcBef>
          <a:spcPct val="20000"/>
        </a:spcBef>
        <a:spcAft>
          <a:spcPts val="600"/>
        </a:spcAft>
        <a:buClr>
          <a:schemeClr val="accent2"/>
        </a:buClr>
        <a:buSzPct val="92000"/>
        <a:buFont typeface="Wingdings" panose="05000000000000000000" pitchFamily="2" charset="2"/>
        <a:buChar char="§"/>
        <a:defRPr sz="2400" kern="1200">
          <a:solidFill>
            <a:schemeClr val="tx2"/>
          </a:solidFill>
          <a:latin typeface="Times New Roman" panose="02020603050405020304" pitchFamily="18" charset="0"/>
          <a:ea typeface="+mn-ea"/>
          <a:cs typeface="Times New Roman" panose="02020603050405020304" pitchFamily="18" charset="0"/>
        </a:defRPr>
      </a:lvl4pPr>
      <a:lvl5pPr marL="1602000" indent="-234000" algn="l" defTabSz="457200" rtl="0" eaLnBrk="1" latinLnBrk="0" hangingPunct="1">
        <a:spcBef>
          <a:spcPct val="20000"/>
        </a:spcBef>
        <a:spcAft>
          <a:spcPts val="600"/>
        </a:spcAft>
        <a:buClr>
          <a:schemeClr val="accent2"/>
        </a:buClr>
        <a:buSzPct val="92000"/>
        <a:buFont typeface="Wingdings" panose="05000000000000000000" pitchFamily="2" charset="2"/>
        <a:buChar char="q"/>
        <a:defRPr sz="2400" kern="1200">
          <a:solidFill>
            <a:schemeClr val="tx2"/>
          </a:solidFill>
          <a:latin typeface="Times New Roman" panose="02020603050405020304" pitchFamily="18" charset="0"/>
          <a:ea typeface="+mn-ea"/>
          <a:cs typeface="Times New Roman" panose="02020603050405020304" pitchFamily="18" charset="0"/>
        </a:defRPr>
      </a:lvl5pPr>
      <a:lvl6pPr marL="19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br>
              <a:rPr lang="pt-BR" dirty="0"/>
            </a:br>
            <a:r>
              <a:rPr lang="pt-BR" dirty="0"/>
              <a:t>tv digital</a:t>
            </a:r>
          </a:p>
        </p:txBody>
      </p:sp>
      <p:sp>
        <p:nvSpPr>
          <p:cNvPr id="3" name="Subtítulo 2"/>
          <p:cNvSpPr>
            <a:spLocks noGrp="1"/>
          </p:cNvSpPr>
          <p:nvPr>
            <p:ph type="subTitle" idx="1"/>
          </p:nvPr>
        </p:nvSpPr>
        <p:spPr/>
        <p:txBody>
          <a:bodyPr>
            <a:normAutofit/>
          </a:bodyPr>
          <a:lstStyle/>
          <a:p>
            <a:r>
              <a:rPr lang="pt-BR" dirty="0"/>
              <a:t>Camada Física do DTV+ (TV 3.0)</a:t>
            </a:r>
            <a:endParaRPr lang="en-US" altLang="pt-BR" dirty="0"/>
          </a:p>
        </p:txBody>
      </p:sp>
    </p:spTree>
    <p:extLst>
      <p:ext uri="{BB962C8B-B14F-4D97-AF65-F5344CB8AC3E}">
        <p14:creationId xmlns:p14="http://schemas.microsoft.com/office/powerpoint/2010/main" val="2682342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818D6-DF60-4FFD-99B8-AC53CA5B5E83}"/>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1504AB81-6065-1E0A-1807-923A612FAD3C}"/>
              </a:ext>
            </a:extLst>
          </p:cNvPr>
          <p:cNvSpPr>
            <a:spLocks noGrp="1" noChangeArrowheads="1"/>
          </p:cNvSpPr>
          <p:nvPr>
            <p:ph type="title"/>
          </p:nvPr>
        </p:nvSpPr>
        <p:spPr>
          <a:xfrm>
            <a:off x="-1173291" y="741784"/>
            <a:ext cx="8647112" cy="1120775"/>
          </a:xfrm>
        </p:spPr>
        <p:txBody>
          <a:bodyPr>
            <a:noAutofit/>
          </a:bodyPr>
          <a:lstStyle/>
          <a:p>
            <a:pPr algn="ctr" eaLnBrk="1" hangingPunct="1"/>
            <a:r>
              <a:rPr lang="en-US" altLang="pt-BR" sz="2400" dirty="0"/>
              <a:t>ARQUITETURA DA TV DIGITAL</a:t>
            </a:r>
          </a:p>
        </p:txBody>
      </p:sp>
      <p:sp>
        <p:nvSpPr>
          <p:cNvPr id="2" name="CaixaDeTexto 1">
            <a:extLst>
              <a:ext uri="{FF2B5EF4-FFF2-40B4-BE49-F238E27FC236}">
                <a16:creationId xmlns:a16="http://schemas.microsoft.com/office/drawing/2014/main" id="{0909B8E8-E15F-1CFB-2C63-3A6C544C2A07}"/>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1ADBC4A7-A5AE-FC2B-EE0A-B817E0AA0B07}"/>
              </a:ext>
            </a:extLst>
          </p:cNvPr>
          <p:cNvSpPr>
            <a:spLocks noChangeArrowheads="1"/>
          </p:cNvSpPr>
          <p:nvPr/>
        </p:nvSpPr>
        <p:spPr bwMode="auto">
          <a:xfrm>
            <a:off x="550507" y="2529040"/>
            <a:ext cx="89947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a:ln>
                  <a:noFill/>
                </a:ln>
                <a:solidFill>
                  <a:schemeClr val="tx1"/>
                </a:solidFill>
                <a:effectLst/>
                <a:latin typeface="Arial" panose="020B0604020202020204" pitchFamily="34" charset="0"/>
              </a:rPr>
              <a:t>Evolução da TV analógica → TV digital (DTV/TV 2.0) → TV 3.0 (DTV+).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a:ln>
                  <a:noFill/>
                </a:ln>
                <a:solidFill>
                  <a:schemeClr val="tx1"/>
                </a:solidFill>
                <a:effectLst/>
                <a:latin typeface="Arial" panose="020B0604020202020204" pitchFamily="34" charset="0"/>
              </a:rPr>
              <a:t>Transição do foco em hardware para foco em </a:t>
            </a:r>
            <a:r>
              <a:rPr kumimoji="0" lang="pt-BR" altLang="pt-BR" sz="1800" b="1" i="0" u="none" strike="noStrike" cap="none" normalizeH="0" baseline="0">
                <a:ln>
                  <a:noFill/>
                </a:ln>
                <a:solidFill>
                  <a:schemeClr val="tx1"/>
                </a:solidFill>
                <a:effectLst/>
                <a:latin typeface="Arial" panose="020B0604020202020204" pitchFamily="34" charset="0"/>
              </a:rPr>
              <a:t>software estruturado</a:t>
            </a:r>
            <a:r>
              <a:rPr kumimoji="0" lang="pt-BR" altLang="pt-BR" sz="18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974846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7AF65-6DE6-A304-9E82-9D44F5A49403}"/>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1F375E89-6E39-D193-5F31-BF27D9DCED84}"/>
              </a:ext>
            </a:extLst>
          </p:cNvPr>
          <p:cNvSpPr>
            <a:spLocks noGrp="1" noChangeArrowheads="1"/>
          </p:cNvSpPr>
          <p:nvPr>
            <p:ph type="title"/>
          </p:nvPr>
        </p:nvSpPr>
        <p:spPr>
          <a:xfrm>
            <a:off x="-1481202" y="751115"/>
            <a:ext cx="8647112" cy="1120775"/>
          </a:xfrm>
        </p:spPr>
        <p:txBody>
          <a:bodyPr>
            <a:noAutofit/>
          </a:bodyPr>
          <a:lstStyle/>
          <a:p>
            <a:pPr algn="ctr" eaLnBrk="1" hangingPunct="1"/>
            <a:r>
              <a:rPr lang="en-US" altLang="pt-BR" sz="2400" dirty="0"/>
              <a:t>ARQUITETURA DA TV DIGITAL</a:t>
            </a:r>
          </a:p>
        </p:txBody>
      </p:sp>
      <p:sp>
        <p:nvSpPr>
          <p:cNvPr id="2" name="CaixaDeTexto 1">
            <a:extLst>
              <a:ext uri="{FF2B5EF4-FFF2-40B4-BE49-F238E27FC236}">
                <a16:creationId xmlns:a16="http://schemas.microsoft.com/office/drawing/2014/main" id="{9CDF5B96-F10B-7502-DAD0-19848B457E32}"/>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5" name="CaixaDeTexto 4">
            <a:extLst>
              <a:ext uri="{FF2B5EF4-FFF2-40B4-BE49-F238E27FC236}">
                <a16:creationId xmlns:a16="http://schemas.microsoft.com/office/drawing/2014/main" id="{CC449DF3-C0D3-C5DB-131B-4F63F6288590}"/>
              </a:ext>
            </a:extLst>
          </p:cNvPr>
          <p:cNvSpPr txBox="1"/>
          <p:nvPr/>
        </p:nvSpPr>
        <p:spPr>
          <a:xfrm>
            <a:off x="809431" y="2333455"/>
            <a:ext cx="7298871" cy="2585323"/>
          </a:xfrm>
          <a:prstGeom prst="rect">
            <a:avLst/>
          </a:prstGeom>
          <a:noFill/>
        </p:spPr>
        <p:txBody>
          <a:bodyPr wrap="square">
            <a:spAutoFit/>
          </a:bodyPr>
          <a:lstStyle/>
          <a:p>
            <a:pPr algn="just"/>
            <a:r>
              <a:rPr lang="pt-BR" dirty="0"/>
              <a:t>A camada física do DTV e do DTV+ é responsável pela transmissão dos bits de áudio, vídeo e aplicações. Deve garantir que os bits transmitidos sejam recebidos pelo usuário sem erros, pelo ar (radiodifusão) ou pela banda larga (internet). As etapas da camada física do DTV pelo ar podem ser resumidas como </a:t>
            </a:r>
            <a:r>
              <a:rPr lang="pt-BR" b="1" dirty="0"/>
              <a:t>codificação de canal, modulação e transmissão</a:t>
            </a:r>
            <a:r>
              <a:rPr lang="pt-BR" dirty="0"/>
              <a:t>. O DTV+ não altera essas etapas, mas implementa melhorias significativas para permitir aumento de capacidade e da robustez, com objetivo de transmitir mais conteúdos e maiores resoluções de áudio e vídeo. Este Artigo explora as melhorias implementadas na camada física por radiodifusão do DTV+.</a:t>
            </a:r>
          </a:p>
        </p:txBody>
      </p:sp>
    </p:spTree>
    <p:extLst>
      <p:ext uri="{BB962C8B-B14F-4D97-AF65-F5344CB8AC3E}">
        <p14:creationId xmlns:p14="http://schemas.microsoft.com/office/powerpoint/2010/main" val="1013166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F9919-B078-D0FE-A6D4-AA4D6768E1F3}"/>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D9C158F1-9893-1123-91ED-E0F2ED2C9BE7}"/>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a:t>Taxa </a:t>
            </a:r>
            <a:r>
              <a:rPr lang="en-US" altLang="pt-BR" dirty="0" err="1"/>
              <a:t>máxima</a:t>
            </a:r>
            <a:r>
              <a:rPr lang="en-US" altLang="pt-BR" dirty="0"/>
              <a:t> de um canal </a:t>
            </a:r>
            <a:br>
              <a:rPr lang="en-US" altLang="pt-BR" dirty="0"/>
            </a:br>
            <a:endParaRPr lang="en-US" altLang="pt-BR" sz="1800" dirty="0"/>
          </a:p>
        </p:txBody>
      </p:sp>
      <p:pic>
        <p:nvPicPr>
          <p:cNvPr id="3" name="Imagem 2">
            <a:extLst>
              <a:ext uri="{FF2B5EF4-FFF2-40B4-BE49-F238E27FC236}">
                <a16:creationId xmlns:a16="http://schemas.microsoft.com/office/drawing/2014/main" id="{7550517F-098F-3283-CB34-7D6ECBD365C5}"/>
              </a:ext>
            </a:extLst>
          </p:cNvPr>
          <p:cNvPicPr>
            <a:picLocks noChangeAspect="1"/>
          </p:cNvPicPr>
          <p:nvPr/>
        </p:nvPicPr>
        <p:blipFill>
          <a:blip r:embed="rId2"/>
          <a:stretch>
            <a:fillRect/>
          </a:stretch>
        </p:blipFill>
        <p:spPr>
          <a:xfrm>
            <a:off x="93406" y="2388596"/>
            <a:ext cx="8957187" cy="3169466"/>
          </a:xfrm>
          <a:prstGeom prst="rect">
            <a:avLst/>
          </a:prstGeom>
        </p:spPr>
      </p:pic>
    </p:spTree>
    <p:extLst>
      <p:ext uri="{BB962C8B-B14F-4D97-AF65-F5344CB8AC3E}">
        <p14:creationId xmlns:p14="http://schemas.microsoft.com/office/powerpoint/2010/main" val="2284392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E40DE-C201-B651-8F26-CB5AC1750CBA}"/>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67493D15-F2DB-B3CC-EA15-2A866B1B7478}"/>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err="1"/>
              <a:t>Teorema</a:t>
            </a:r>
            <a:r>
              <a:rPr lang="en-US" altLang="pt-BR" dirty="0"/>
              <a:t> de Nyquist com a taxa de </a:t>
            </a:r>
            <a:r>
              <a:rPr lang="en-US" altLang="pt-BR" dirty="0" err="1"/>
              <a:t>amostragem</a:t>
            </a:r>
            <a:br>
              <a:rPr lang="en-US" altLang="pt-BR" dirty="0"/>
            </a:br>
            <a:endParaRPr lang="en-US" altLang="pt-BR" sz="1800" dirty="0"/>
          </a:p>
        </p:txBody>
      </p:sp>
      <p:pic>
        <p:nvPicPr>
          <p:cNvPr id="4" name="Imagem 3">
            <a:extLst>
              <a:ext uri="{FF2B5EF4-FFF2-40B4-BE49-F238E27FC236}">
                <a16:creationId xmlns:a16="http://schemas.microsoft.com/office/drawing/2014/main" id="{4A1324FE-1170-95B8-CB5A-DEA4426F09FB}"/>
              </a:ext>
            </a:extLst>
          </p:cNvPr>
          <p:cNvPicPr>
            <a:picLocks noChangeAspect="1"/>
          </p:cNvPicPr>
          <p:nvPr/>
        </p:nvPicPr>
        <p:blipFill>
          <a:blip r:embed="rId2"/>
          <a:stretch>
            <a:fillRect/>
          </a:stretch>
        </p:blipFill>
        <p:spPr>
          <a:xfrm>
            <a:off x="193079" y="2281084"/>
            <a:ext cx="8950921" cy="1522427"/>
          </a:xfrm>
          <a:prstGeom prst="rect">
            <a:avLst/>
          </a:prstGeom>
        </p:spPr>
      </p:pic>
    </p:spTree>
    <p:extLst>
      <p:ext uri="{BB962C8B-B14F-4D97-AF65-F5344CB8AC3E}">
        <p14:creationId xmlns:p14="http://schemas.microsoft.com/office/powerpoint/2010/main" val="1287583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B6AD4-E066-4F4D-3C59-922D4DE50F18}"/>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6B9B1131-F5AF-A047-A5B3-6D4D04ABE5F8}"/>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a:t>Taxa </a:t>
            </a:r>
            <a:r>
              <a:rPr lang="en-US" altLang="pt-BR" dirty="0" err="1"/>
              <a:t>máxima</a:t>
            </a:r>
            <a:r>
              <a:rPr lang="en-US" altLang="pt-BR" dirty="0"/>
              <a:t> de um canal</a:t>
            </a:r>
            <a:br>
              <a:rPr lang="en-US" altLang="pt-BR" dirty="0"/>
            </a:br>
            <a:endParaRPr lang="en-US" altLang="pt-BR" sz="1800" dirty="0"/>
          </a:p>
        </p:txBody>
      </p:sp>
      <p:pic>
        <p:nvPicPr>
          <p:cNvPr id="3" name="Imagem 2">
            <a:extLst>
              <a:ext uri="{FF2B5EF4-FFF2-40B4-BE49-F238E27FC236}">
                <a16:creationId xmlns:a16="http://schemas.microsoft.com/office/drawing/2014/main" id="{B9926FDC-5291-A531-798B-8DB28460B6FD}"/>
              </a:ext>
            </a:extLst>
          </p:cNvPr>
          <p:cNvPicPr>
            <a:picLocks noChangeAspect="1"/>
          </p:cNvPicPr>
          <p:nvPr/>
        </p:nvPicPr>
        <p:blipFill>
          <a:blip r:embed="rId2"/>
          <a:stretch>
            <a:fillRect/>
          </a:stretch>
        </p:blipFill>
        <p:spPr>
          <a:xfrm>
            <a:off x="162232" y="2262629"/>
            <a:ext cx="8819535" cy="1482722"/>
          </a:xfrm>
          <a:prstGeom prst="rect">
            <a:avLst/>
          </a:prstGeom>
        </p:spPr>
      </p:pic>
    </p:spTree>
    <p:extLst>
      <p:ext uri="{BB962C8B-B14F-4D97-AF65-F5344CB8AC3E}">
        <p14:creationId xmlns:p14="http://schemas.microsoft.com/office/powerpoint/2010/main" val="71923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DB9F8-BF77-9F6B-7297-D69D169E6D17}"/>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340A7FF9-ECC4-38B3-015D-408EA49374D3}"/>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a:t>Taxa </a:t>
            </a:r>
            <a:r>
              <a:rPr lang="en-US" altLang="pt-BR" dirty="0" err="1"/>
              <a:t>máxima</a:t>
            </a:r>
            <a:r>
              <a:rPr lang="en-US" altLang="pt-BR" dirty="0"/>
              <a:t> de um canal</a:t>
            </a:r>
            <a:br>
              <a:rPr lang="en-US" altLang="pt-BR" dirty="0"/>
            </a:br>
            <a:endParaRPr lang="en-US" altLang="pt-BR" sz="1800" dirty="0"/>
          </a:p>
        </p:txBody>
      </p:sp>
      <p:pic>
        <p:nvPicPr>
          <p:cNvPr id="4" name="Imagem 3">
            <a:extLst>
              <a:ext uri="{FF2B5EF4-FFF2-40B4-BE49-F238E27FC236}">
                <a16:creationId xmlns:a16="http://schemas.microsoft.com/office/drawing/2014/main" id="{86037146-1D72-B055-D055-C05B895900B5}"/>
              </a:ext>
            </a:extLst>
          </p:cNvPr>
          <p:cNvPicPr>
            <a:picLocks noChangeAspect="1"/>
          </p:cNvPicPr>
          <p:nvPr/>
        </p:nvPicPr>
        <p:blipFill>
          <a:blip r:embed="rId2"/>
          <a:stretch>
            <a:fillRect/>
          </a:stretch>
        </p:blipFill>
        <p:spPr>
          <a:xfrm>
            <a:off x="0" y="2152504"/>
            <a:ext cx="9144000" cy="1786076"/>
          </a:xfrm>
          <a:prstGeom prst="rect">
            <a:avLst/>
          </a:prstGeom>
        </p:spPr>
      </p:pic>
    </p:spTree>
    <p:extLst>
      <p:ext uri="{BB962C8B-B14F-4D97-AF65-F5344CB8AC3E}">
        <p14:creationId xmlns:p14="http://schemas.microsoft.com/office/powerpoint/2010/main" val="425664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77BC8-3427-F1CB-8223-F1A43B41DF22}"/>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9CAC53EA-E8F0-3493-5D90-9EEEAA212EC7}"/>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a:t>Taxa </a:t>
            </a:r>
            <a:r>
              <a:rPr lang="en-US" altLang="pt-BR" dirty="0" err="1"/>
              <a:t>máxima</a:t>
            </a:r>
            <a:r>
              <a:rPr lang="en-US" altLang="pt-BR" dirty="0"/>
              <a:t> de um canal</a:t>
            </a:r>
            <a:br>
              <a:rPr lang="en-US" altLang="pt-BR" dirty="0"/>
            </a:br>
            <a:endParaRPr lang="en-US" altLang="pt-BR" sz="1800" dirty="0"/>
          </a:p>
        </p:txBody>
      </p:sp>
      <p:pic>
        <p:nvPicPr>
          <p:cNvPr id="3" name="Imagem 2">
            <a:extLst>
              <a:ext uri="{FF2B5EF4-FFF2-40B4-BE49-F238E27FC236}">
                <a16:creationId xmlns:a16="http://schemas.microsoft.com/office/drawing/2014/main" id="{E7BF12B6-6973-EA1D-57FB-53C0C0C82046}"/>
              </a:ext>
            </a:extLst>
          </p:cNvPr>
          <p:cNvPicPr>
            <a:picLocks noChangeAspect="1"/>
          </p:cNvPicPr>
          <p:nvPr/>
        </p:nvPicPr>
        <p:blipFill>
          <a:blip r:embed="rId2"/>
          <a:stretch>
            <a:fillRect/>
          </a:stretch>
        </p:blipFill>
        <p:spPr>
          <a:xfrm>
            <a:off x="0" y="2165338"/>
            <a:ext cx="9144000" cy="2527324"/>
          </a:xfrm>
          <a:prstGeom prst="rect">
            <a:avLst/>
          </a:prstGeom>
        </p:spPr>
      </p:pic>
    </p:spTree>
    <p:extLst>
      <p:ext uri="{BB962C8B-B14F-4D97-AF65-F5344CB8AC3E}">
        <p14:creationId xmlns:p14="http://schemas.microsoft.com/office/powerpoint/2010/main" val="51701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5DA93-1D36-2B5A-D402-8A5E2F4F0E30}"/>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73270C5D-D6C2-8345-4E79-7F3D04A36A4D}"/>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a:t>Taxa </a:t>
            </a:r>
            <a:r>
              <a:rPr lang="en-US" altLang="pt-BR" dirty="0" err="1"/>
              <a:t>máxima</a:t>
            </a:r>
            <a:r>
              <a:rPr lang="en-US" altLang="pt-BR" dirty="0"/>
              <a:t> de um canal</a:t>
            </a:r>
            <a:br>
              <a:rPr lang="en-US" altLang="pt-BR" dirty="0"/>
            </a:br>
            <a:endParaRPr lang="en-US" altLang="pt-BR" sz="1800" dirty="0"/>
          </a:p>
        </p:txBody>
      </p:sp>
      <p:pic>
        <p:nvPicPr>
          <p:cNvPr id="4" name="Imagem 3">
            <a:extLst>
              <a:ext uri="{FF2B5EF4-FFF2-40B4-BE49-F238E27FC236}">
                <a16:creationId xmlns:a16="http://schemas.microsoft.com/office/drawing/2014/main" id="{AE3070B9-3CBE-37CE-E392-A2FD0658EB92}"/>
              </a:ext>
            </a:extLst>
          </p:cNvPr>
          <p:cNvPicPr>
            <a:picLocks noChangeAspect="1"/>
          </p:cNvPicPr>
          <p:nvPr/>
        </p:nvPicPr>
        <p:blipFill>
          <a:blip r:embed="rId2"/>
          <a:stretch>
            <a:fillRect/>
          </a:stretch>
        </p:blipFill>
        <p:spPr>
          <a:xfrm>
            <a:off x="0" y="2117931"/>
            <a:ext cx="9144000" cy="1953544"/>
          </a:xfrm>
          <a:prstGeom prst="rect">
            <a:avLst/>
          </a:prstGeom>
        </p:spPr>
      </p:pic>
    </p:spTree>
    <p:extLst>
      <p:ext uri="{BB962C8B-B14F-4D97-AF65-F5344CB8AC3E}">
        <p14:creationId xmlns:p14="http://schemas.microsoft.com/office/powerpoint/2010/main" val="2543193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DE1D-C95C-F890-E080-D2C9D6AC257C}"/>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B69D9BE9-A89A-E574-12E3-F9C2CCBC6799}"/>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a:t>Taxa </a:t>
            </a:r>
            <a:r>
              <a:rPr lang="en-US" altLang="pt-BR" dirty="0" err="1"/>
              <a:t>máxima</a:t>
            </a:r>
            <a:r>
              <a:rPr lang="en-US" altLang="pt-BR" dirty="0"/>
              <a:t> de um canal</a:t>
            </a:r>
            <a:br>
              <a:rPr lang="en-US" altLang="pt-BR" dirty="0"/>
            </a:br>
            <a:endParaRPr lang="en-US" altLang="pt-BR" sz="1800" dirty="0"/>
          </a:p>
        </p:txBody>
      </p:sp>
      <p:pic>
        <p:nvPicPr>
          <p:cNvPr id="3" name="Imagem 2">
            <a:extLst>
              <a:ext uri="{FF2B5EF4-FFF2-40B4-BE49-F238E27FC236}">
                <a16:creationId xmlns:a16="http://schemas.microsoft.com/office/drawing/2014/main" id="{0DE01F39-1C8B-84C0-41F0-3AA0236AF1B5}"/>
              </a:ext>
            </a:extLst>
          </p:cNvPr>
          <p:cNvPicPr>
            <a:picLocks noChangeAspect="1"/>
          </p:cNvPicPr>
          <p:nvPr/>
        </p:nvPicPr>
        <p:blipFill>
          <a:blip r:embed="rId2"/>
          <a:stretch>
            <a:fillRect/>
          </a:stretch>
        </p:blipFill>
        <p:spPr>
          <a:xfrm>
            <a:off x="0" y="2154521"/>
            <a:ext cx="9144000" cy="3217552"/>
          </a:xfrm>
          <a:prstGeom prst="rect">
            <a:avLst/>
          </a:prstGeom>
        </p:spPr>
      </p:pic>
    </p:spTree>
    <p:extLst>
      <p:ext uri="{BB962C8B-B14F-4D97-AF65-F5344CB8AC3E}">
        <p14:creationId xmlns:p14="http://schemas.microsoft.com/office/powerpoint/2010/main" val="1147569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D468C-ABF8-1989-D38B-A6536F82F28A}"/>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7A170AEF-8E32-CFDE-1171-DD110852A860}"/>
              </a:ext>
            </a:extLst>
          </p:cNvPr>
          <p:cNvSpPr>
            <a:spLocks noGrp="1" noChangeArrowheads="1"/>
          </p:cNvSpPr>
          <p:nvPr>
            <p:ph type="title"/>
          </p:nvPr>
        </p:nvSpPr>
        <p:spPr>
          <a:xfrm>
            <a:off x="562531" y="933887"/>
            <a:ext cx="4898570" cy="771601"/>
          </a:xfrm>
        </p:spPr>
        <p:txBody>
          <a:bodyPr>
            <a:normAutofit fontScale="90000"/>
          </a:bodyPr>
          <a:lstStyle/>
          <a:p>
            <a:pPr algn="ctr" eaLnBrk="1" hangingPunct="1"/>
            <a:r>
              <a:rPr lang="en-US" altLang="pt-BR" dirty="0"/>
              <a:t>Taxa </a:t>
            </a:r>
            <a:r>
              <a:rPr lang="en-US" altLang="pt-BR" dirty="0" err="1"/>
              <a:t>máxima</a:t>
            </a:r>
            <a:r>
              <a:rPr lang="en-US" altLang="pt-BR" dirty="0"/>
              <a:t> de um canal x taxa de </a:t>
            </a:r>
            <a:r>
              <a:rPr lang="en-US" altLang="pt-BR" dirty="0" err="1"/>
              <a:t>amostragem</a:t>
            </a:r>
            <a:br>
              <a:rPr lang="en-US" altLang="pt-BR" dirty="0"/>
            </a:br>
            <a:endParaRPr lang="en-US" altLang="pt-BR" sz="1800" dirty="0"/>
          </a:p>
        </p:txBody>
      </p:sp>
      <p:sp>
        <p:nvSpPr>
          <p:cNvPr id="4" name="CaixaDeTexto 3">
            <a:extLst>
              <a:ext uri="{FF2B5EF4-FFF2-40B4-BE49-F238E27FC236}">
                <a16:creationId xmlns:a16="http://schemas.microsoft.com/office/drawing/2014/main" id="{AFF41C9A-27AA-2C42-DC26-0B4AF8C48AFB}"/>
              </a:ext>
            </a:extLst>
          </p:cNvPr>
          <p:cNvSpPr txBox="1"/>
          <p:nvPr/>
        </p:nvSpPr>
        <p:spPr>
          <a:xfrm>
            <a:off x="432619" y="2199486"/>
            <a:ext cx="8288593" cy="3754874"/>
          </a:xfrm>
          <a:prstGeom prst="rect">
            <a:avLst/>
          </a:prstGeom>
          <a:noFill/>
        </p:spPr>
        <p:txBody>
          <a:bodyPr wrap="square">
            <a:spAutoFit/>
          </a:bodyPr>
          <a:lstStyle/>
          <a:p>
            <a:pPr algn="just">
              <a:buNone/>
            </a:pPr>
            <a:r>
              <a:rPr lang="pt-BR" sz="2000" b="1" dirty="0"/>
              <a:t>Taxa de Amostragem (Sample Rate)</a:t>
            </a:r>
          </a:p>
          <a:p>
            <a:pPr algn="just"/>
            <a:r>
              <a:rPr lang="pt-BR" sz="2000" dirty="0"/>
              <a:t>A </a:t>
            </a:r>
            <a:r>
              <a:rPr lang="pt-BR" sz="2000" b="1" dirty="0"/>
              <a:t>taxa de amostragem</a:t>
            </a:r>
            <a:r>
              <a:rPr lang="pt-BR" sz="2000" dirty="0"/>
              <a:t> (medida em </a:t>
            </a:r>
            <a:r>
              <a:rPr lang="pt-BR" sz="2000" b="1" dirty="0"/>
              <a:t>Hertz - Hz</a:t>
            </a:r>
            <a:r>
              <a:rPr lang="pt-BR" sz="2000" dirty="0"/>
              <a:t>) se refere à frequência com que um sinal analógico é "medido" ou "fotografado" para ser convertido em um sinal digital. Ela é fundamental no processo de </a:t>
            </a:r>
            <a:r>
              <a:rPr lang="pt-BR" sz="2000" b="1" dirty="0"/>
              <a:t>conversão analógico-digital.</a:t>
            </a:r>
          </a:p>
          <a:p>
            <a:pPr algn="just"/>
            <a:endParaRPr lang="pt-BR" sz="2000" b="1" dirty="0"/>
          </a:p>
          <a:p>
            <a:pPr algn="just"/>
            <a:r>
              <a:rPr lang="pt-BR" sz="2000" b="1" dirty="0"/>
              <a:t>Taxa de Transmissão (Bit Rate / Data Rate)</a:t>
            </a:r>
          </a:p>
          <a:p>
            <a:pPr algn="just"/>
            <a:r>
              <a:rPr lang="pt-BR" sz="2000" dirty="0"/>
              <a:t>A </a:t>
            </a:r>
            <a:r>
              <a:rPr lang="pt-BR" sz="2000" b="1" dirty="0"/>
              <a:t>taxa de transmissão</a:t>
            </a:r>
            <a:r>
              <a:rPr lang="pt-BR" sz="2000" dirty="0"/>
              <a:t> (medida em </a:t>
            </a:r>
            <a:r>
              <a:rPr lang="pt-BR" sz="2000" b="1" dirty="0"/>
              <a:t>bits por segundo - bps</a:t>
            </a:r>
            <a:r>
              <a:rPr lang="pt-BR" sz="2000" dirty="0"/>
              <a:t>) se refere à velocidade com que os dados digitais são transferidos ou transmitidos através de um canal de comunicação. É a quantidade de bits de informação que podem passar por um ponto em um segundo.</a:t>
            </a:r>
          </a:p>
          <a:p>
            <a:pPr algn="just"/>
            <a:endParaRPr lang="pt-BR" dirty="0"/>
          </a:p>
        </p:txBody>
      </p:sp>
    </p:spTree>
    <p:extLst>
      <p:ext uri="{BB962C8B-B14F-4D97-AF65-F5344CB8AC3E}">
        <p14:creationId xmlns:p14="http://schemas.microsoft.com/office/powerpoint/2010/main" val="2623986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F2161-3240-6210-6939-E373E48A1EEE}"/>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492694C6-C858-9988-5D95-10D806EA25D0}"/>
              </a:ext>
            </a:extLst>
          </p:cNvPr>
          <p:cNvSpPr>
            <a:spLocks noGrp="1" noChangeArrowheads="1"/>
          </p:cNvSpPr>
          <p:nvPr>
            <p:ph type="title"/>
          </p:nvPr>
        </p:nvSpPr>
        <p:spPr>
          <a:xfrm>
            <a:off x="-1481202" y="751115"/>
            <a:ext cx="8647112" cy="1120775"/>
          </a:xfrm>
        </p:spPr>
        <p:txBody>
          <a:bodyPr>
            <a:noAutofit/>
          </a:bodyPr>
          <a:lstStyle/>
          <a:p>
            <a:pPr algn="ctr" eaLnBrk="1" hangingPunct="1"/>
            <a:r>
              <a:rPr lang="en-US" altLang="pt-BR" sz="2400" dirty="0"/>
              <a:t>ARQUITETURA DA TV DIGITAL</a:t>
            </a:r>
          </a:p>
        </p:txBody>
      </p:sp>
      <p:sp>
        <p:nvSpPr>
          <p:cNvPr id="2" name="CaixaDeTexto 1">
            <a:extLst>
              <a:ext uri="{FF2B5EF4-FFF2-40B4-BE49-F238E27FC236}">
                <a16:creationId xmlns:a16="http://schemas.microsoft.com/office/drawing/2014/main" id="{EFE4B28A-69BD-AC77-4207-22730B1606B7}"/>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pic>
        <p:nvPicPr>
          <p:cNvPr id="4" name="Imagem 3">
            <a:extLst>
              <a:ext uri="{FF2B5EF4-FFF2-40B4-BE49-F238E27FC236}">
                <a16:creationId xmlns:a16="http://schemas.microsoft.com/office/drawing/2014/main" id="{659F64DA-35B4-AE80-734B-216266807CD5}"/>
              </a:ext>
            </a:extLst>
          </p:cNvPr>
          <p:cNvPicPr>
            <a:picLocks noChangeAspect="1"/>
          </p:cNvPicPr>
          <p:nvPr/>
        </p:nvPicPr>
        <p:blipFill>
          <a:blip r:embed="rId2"/>
          <a:stretch>
            <a:fillRect/>
          </a:stretch>
        </p:blipFill>
        <p:spPr>
          <a:xfrm>
            <a:off x="1201898" y="2228412"/>
            <a:ext cx="6659006" cy="3768812"/>
          </a:xfrm>
          <a:prstGeom prst="rect">
            <a:avLst/>
          </a:prstGeom>
        </p:spPr>
      </p:pic>
    </p:spTree>
    <p:extLst>
      <p:ext uri="{BB962C8B-B14F-4D97-AF65-F5344CB8AC3E}">
        <p14:creationId xmlns:p14="http://schemas.microsoft.com/office/powerpoint/2010/main" val="4104539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FDEF6-42C2-46FF-B590-8735006DD10F}"/>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527F181E-A710-D11D-1FD0-422B0E2DBCB2}"/>
              </a:ext>
            </a:extLst>
          </p:cNvPr>
          <p:cNvSpPr>
            <a:spLocks noGrp="1" noChangeArrowheads="1"/>
          </p:cNvSpPr>
          <p:nvPr>
            <p:ph type="title"/>
          </p:nvPr>
        </p:nvSpPr>
        <p:spPr>
          <a:xfrm>
            <a:off x="-1481202" y="751115"/>
            <a:ext cx="8647112" cy="1120775"/>
          </a:xfrm>
        </p:spPr>
        <p:txBody>
          <a:bodyPr>
            <a:noAutofit/>
          </a:bodyPr>
          <a:lstStyle/>
          <a:p>
            <a:pPr algn="ctr"/>
            <a:r>
              <a:rPr lang="pt-BR" sz="2400" dirty="0"/>
              <a:t>Codificação de Canal</a:t>
            </a:r>
            <a:endParaRPr lang="en-US" altLang="pt-BR" sz="2400" dirty="0"/>
          </a:p>
        </p:txBody>
      </p:sp>
      <p:sp>
        <p:nvSpPr>
          <p:cNvPr id="2" name="CaixaDeTexto 1">
            <a:extLst>
              <a:ext uri="{FF2B5EF4-FFF2-40B4-BE49-F238E27FC236}">
                <a16:creationId xmlns:a16="http://schemas.microsoft.com/office/drawing/2014/main" id="{277D03BE-813B-7BF2-D5A4-2E1D527E7523}"/>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C1BD00E2-23C7-300A-D119-C776F5952732}"/>
              </a:ext>
            </a:extLst>
          </p:cNvPr>
          <p:cNvSpPr>
            <a:spLocks noChangeArrowheads="1"/>
          </p:cNvSpPr>
          <p:nvPr/>
        </p:nvSpPr>
        <p:spPr bwMode="auto">
          <a:xfrm>
            <a:off x="638175" y="2322064"/>
            <a:ext cx="83285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pt-BR" dirty="0"/>
              <a:t>O DTV e o DTV+ possuem 2 códigos de correção de erro, que são a codificação interna e a codificação externa.</a:t>
            </a: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8224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BA904-06C1-D10E-E101-B60E4A4CD3CB}"/>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EDC5502C-CB1A-FD6C-61EF-DFDB55BF9601}"/>
              </a:ext>
            </a:extLst>
          </p:cNvPr>
          <p:cNvSpPr>
            <a:spLocks noGrp="1" noChangeArrowheads="1"/>
          </p:cNvSpPr>
          <p:nvPr>
            <p:ph type="title"/>
          </p:nvPr>
        </p:nvSpPr>
        <p:spPr>
          <a:xfrm>
            <a:off x="-1481202" y="751115"/>
            <a:ext cx="8647112" cy="1120775"/>
          </a:xfrm>
        </p:spPr>
        <p:txBody>
          <a:bodyPr>
            <a:noAutofit/>
          </a:bodyPr>
          <a:lstStyle/>
          <a:p>
            <a:pPr algn="ctr"/>
            <a:r>
              <a:rPr lang="pt-BR" sz="2400" dirty="0"/>
              <a:t>Codificação de Canal</a:t>
            </a:r>
            <a:endParaRPr lang="en-US" altLang="pt-BR" sz="2400" dirty="0"/>
          </a:p>
        </p:txBody>
      </p:sp>
      <p:sp>
        <p:nvSpPr>
          <p:cNvPr id="2" name="CaixaDeTexto 1">
            <a:extLst>
              <a:ext uri="{FF2B5EF4-FFF2-40B4-BE49-F238E27FC236}">
                <a16:creationId xmlns:a16="http://schemas.microsoft.com/office/drawing/2014/main" id="{67B9616D-90BD-4D3A-1C8C-714DF18FFC7F}"/>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66F10BFA-B397-D84B-30DC-4D6CC302AD08}"/>
              </a:ext>
            </a:extLst>
          </p:cNvPr>
          <p:cNvSpPr>
            <a:spLocks noChangeArrowheads="1"/>
          </p:cNvSpPr>
          <p:nvPr/>
        </p:nvSpPr>
        <p:spPr bwMode="auto">
          <a:xfrm>
            <a:off x="638175" y="2690336"/>
            <a:ext cx="83285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a:ln>
                  <a:noFill/>
                </a:ln>
                <a:solidFill>
                  <a:schemeClr val="tx1"/>
                </a:solidFill>
                <a:effectLst/>
                <a:latin typeface="Arial" panose="020B0604020202020204" pitchFamily="34" charset="0"/>
              </a:rPr>
              <a:t>Substituição do código </a:t>
            </a:r>
            <a:r>
              <a:rPr kumimoji="0" lang="pt-BR" altLang="pt-BR" sz="1800" b="1" i="0" u="none" strike="noStrike" cap="none" normalizeH="0" baseline="0">
                <a:ln>
                  <a:noFill/>
                </a:ln>
                <a:solidFill>
                  <a:schemeClr val="tx1"/>
                </a:solidFill>
                <a:effectLst/>
                <a:latin typeface="Arial" panose="020B0604020202020204" pitchFamily="34" charset="0"/>
              </a:rPr>
              <a:t>Viterbi</a:t>
            </a:r>
            <a:r>
              <a:rPr kumimoji="0" lang="pt-BR" altLang="pt-BR" sz="1800" b="0" i="0" u="none" strike="noStrike" cap="none" normalizeH="0" baseline="0">
                <a:ln>
                  <a:noFill/>
                </a:ln>
                <a:solidFill>
                  <a:schemeClr val="tx1"/>
                </a:solidFill>
                <a:effectLst/>
                <a:latin typeface="Arial" panose="020B0604020202020204" pitchFamily="34" charset="0"/>
              </a:rPr>
              <a:t> pelo </a:t>
            </a:r>
            <a:r>
              <a:rPr kumimoji="0" lang="pt-BR" altLang="pt-BR" sz="1800" b="1" i="0" u="none" strike="noStrike" cap="none" normalizeH="0" baseline="0">
                <a:ln>
                  <a:noFill/>
                </a:ln>
                <a:solidFill>
                  <a:schemeClr val="tx1"/>
                </a:solidFill>
                <a:effectLst/>
                <a:latin typeface="Arial" panose="020B0604020202020204" pitchFamily="34" charset="0"/>
              </a:rPr>
              <a:t>LDPC (Low-Density Parity Check)</a:t>
            </a:r>
            <a:r>
              <a:rPr kumimoji="0" lang="pt-BR" altLang="pt-BR"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a:ln>
                  <a:noFill/>
                </a:ln>
                <a:solidFill>
                  <a:schemeClr val="tx1"/>
                </a:solidFill>
                <a:effectLst/>
                <a:latin typeface="Arial" panose="020B0604020202020204" pitchFamily="34" charset="0"/>
              </a:rPr>
              <a:t>Substituição do </a:t>
            </a:r>
            <a:r>
              <a:rPr kumimoji="0" lang="pt-BR" altLang="pt-BR" sz="1800" b="1" i="0" u="none" strike="noStrike" cap="none" normalizeH="0" baseline="0">
                <a:ln>
                  <a:noFill/>
                </a:ln>
                <a:solidFill>
                  <a:schemeClr val="tx1"/>
                </a:solidFill>
                <a:effectLst/>
                <a:latin typeface="Arial" panose="020B0604020202020204" pitchFamily="34" charset="0"/>
              </a:rPr>
              <a:t>Reed-Solomon</a:t>
            </a:r>
            <a:r>
              <a:rPr kumimoji="0" lang="pt-BR" altLang="pt-BR" sz="1800" b="0" i="0" u="none" strike="noStrike" cap="none" normalizeH="0" baseline="0">
                <a:ln>
                  <a:noFill/>
                </a:ln>
                <a:solidFill>
                  <a:schemeClr val="tx1"/>
                </a:solidFill>
                <a:effectLst/>
                <a:latin typeface="Arial" panose="020B0604020202020204" pitchFamily="34" charset="0"/>
              </a:rPr>
              <a:t> pelo </a:t>
            </a:r>
            <a:r>
              <a:rPr kumimoji="0" lang="pt-BR" altLang="pt-BR" sz="1800" b="1" i="0" u="none" strike="noStrike" cap="none" normalizeH="0" baseline="0">
                <a:ln>
                  <a:noFill/>
                </a:ln>
                <a:solidFill>
                  <a:schemeClr val="tx1"/>
                </a:solidFill>
                <a:effectLst/>
                <a:latin typeface="Arial" panose="020B0604020202020204" pitchFamily="34" charset="0"/>
              </a:rPr>
              <a:t>BCH</a:t>
            </a:r>
            <a:r>
              <a:rPr kumimoji="0" lang="pt-BR" altLang="pt-BR" sz="1800" b="0" i="0" u="none" strike="noStrike" cap="none" normalizeH="0" baseline="0">
                <a:ln>
                  <a:noFill/>
                </a:ln>
                <a:solidFill>
                  <a:schemeClr val="tx1"/>
                </a:solidFill>
                <a:effectLst/>
                <a:latin typeface="Arial" panose="020B0604020202020204" pitchFamily="34" charset="0"/>
              </a:rPr>
              <a:t> para maior eficiência em conjunto com o LDPC.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0" i="0" u="none" strike="noStrike" cap="none" normalizeH="0" baseline="0">
                <a:ln>
                  <a:noFill/>
                </a:ln>
                <a:solidFill>
                  <a:schemeClr val="tx1"/>
                </a:solidFill>
                <a:effectLst/>
                <a:latin typeface="Arial" panose="020B0604020202020204" pitchFamily="34" charset="0"/>
              </a:rPr>
              <a:t>Uso de </a:t>
            </a:r>
            <a:r>
              <a:rPr kumimoji="0" lang="pt-BR" altLang="pt-BR" sz="1800" b="1" i="0" u="none" strike="noStrike" cap="none" normalizeH="0" baseline="0">
                <a:ln>
                  <a:noFill/>
                </a:ln>
                <a:solidFill>
                  <a:schemeClr val="tx1"/>
                </a:solidFill>
                <a:effectLst/>
                <a:latin typeface="Arial" panose="020B0604020202020204" pitchFamily="34" charset="0"/>
              </a:rPr>
              <a:t>entrelaçador único adaptativo</a:t>
            </a:r>
            <a:r>
              <a:rPr kumimoji="0" lang="pt-BR" altLang="pt-BR" sz="1800" b="0" i="0" u="none" strike="noStrike" cap="none" normalizeH="0" baseline="0">
                <a:ln>
                  <a:noFill/>
                </a:ln>
                <a:solidFill>
                  <a:schemeClr val="tx1"/>
                </a:solidFill>
                <a:effectLst/>
                <a:latin typeface="Arial" panose="020B0604020202020204" pitchFamily="34" charset="0"/>
              </a:rPr>
              <a:t>, dependente da modulação e codificação.</a:t>
            </a:r>
          </a:p>
        </p:txBody>
      </p:sp>
    </p:spTree>
    <p:extLst>
      <p:ext uri="{BB962C8B-B14F-4D97-AF65-F5344CB8AC3E}">
        <p14:creationId xmlns:p14="http://schemas.microsoft.com/office/powerpoint/2010/main" val="3841049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8B91-55CB-8075-8E89-DA38AE1467CB}"/>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879DEFF9-40DD-E2C8-53AF-B83F7AF3C552}"/>
              </a:ext>
            </a:extLst>
          </p:cNvPr>
          <p:cNvSpPr>
            <a:spLocks noGrp="1" noChangeArrowheads="1"/>
          </p:cNvSpPr>
          <p:nvPr>
            <p:ph type="title"/>
          </p:nvPr>
        </p:nvSpPr>
        <p:spPr>
          <a:xfrm>
            <a:off x="-1481202" y="751115"/>
            <a:ext cx="8647112" cy="1120775"/>
          </a:xfrm>
        </p:spPr>
        <p:txBody>
          <a:bodyPr>
            <a:noAutofit/>
          </a:bodyPr>
          <a:lstStyle/>
          <a:p>
            <a:pPr algn="ctr"/>
            <a:r>
              <a:rPr lang="pt-BR" sz="2400" dirty="0"/>
              <a:t>Codificação de Canal</a:t>
            </a:r>
            <a:endParaRPr lang="en-US" altLang="pt-BR" sz="2400" dirty="0"/>
          </a:p>
        </p:txBody>
      </p:sp>
      <p:sp>
        <p:nvSpPr>
          <p:cNvPr id="2" name="CaixaDeTexto 1">
            <a:extLst>
              <a:ext uri="{FF2B5EF4-FFF2-40B4-BE49-F238E27FC236}">
                <a16:creationId xmlns:a16="http://schemas.microsoft.com/office/drawing/2014/main" id="{F4C20A3B-4565-7E3A-8BF2-F6FAF19B8892}"/>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40CC9A2F-7B47-F812-29E6-ECB4A4DF4F7B}"/>
              </a:ext>
            </a:extLst>
          </p:cNvPr>
          <p:cNvSpPr>
            <a:spLocks noChangeArrowheads="1"/>
          </p:cNvSpPr>
          <p:nvPr/>
        </p:nvSpPr>
        <p:spPr bwMode="auto">
          <a:xfrm>
            <a:off x="638175" y="2690337"/>
            <a:ext cx="83285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pt-BR" dirty="0"/>
              <a:t>Outra novidade do DTV+ são os </a:t>
            </a:r>
            <a:r>
              <a:rPr lang="pt-BR" dirty="0" err="1"/>
              <a:t>entrelaçadores</a:t>
            </a:r>
            <a:r>
              <a:rPr lang="pt-BR" dirty="0"/>
              <a:t>. O DTV possui três (3) </a:t>
            </a:r>
            <a:r>
              <a:rPr lang="pt-BR" dirty="0" err="1"/>
              <a:t>entrelaçadores</a:t>
            </a:r>
            <a:r>
              <a:rPr lang="pt-BR" dirty="0"/>
              <a:t> distintos.</a:t>
            </a:r>
          </a:p>
          <a:p>
            <a:pPr lvl="0" defTabSz="914400" eaLnBrk="0" fontAlgn="base" hangingPunct="0">
              <a:spcBef>
                <a:spcPct val="0"/>
              </a:spcBef>
              <a:spcAft>
                <a:spcPct val="0"/>
              </a:spcAft>
              <a:buFontTx/>
              <a:buChar char="•"/>
            </a:pPr>
            <a:r>
              <a:rPr lang="pt-BR" dirty="0"/>
              <a:t> O DTV+ possui apenas um (1) </a:t>
            </a:r>
            <a:r>
              <a:rPr lang="pt-BR" dirty="0" err="1"/>
              <a:t>entrelaçador</a:t>
            </a:r>
            <a:r>
              <a:rPr lang="pt-BR" dirty="0"/>
              <a:t> que depende da taxa de codificação LDPC e da ordem de modulação. O </a:t>
            </a:r>
            <a:r>
              <a:rPr lang="pt-BR" dirty="0" err="1"/>
              <a:t>entrelaçador</a:t>
            </a:r>
            <a:r>
              <a:rPr lang="pt-BR" dirty="0"/>
              <a:t> único tem a mesma função de dispersão de energia, dispersão de erros em rajada</a:t>
            </a: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1561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80329-930C-EA64-33BB-42999E85A90C}"/>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7DD9BC4D-A1C0-138D-5B88-091D78894A35}"/>
              </a:ext>
            </a:extLst>
          </p:cNvPr>
          <p:cNvSpPr>
            <a:spLocks noGrp="1" noChangeArrowheads="1"/>
          </p:cNvSpPr>
          <p:nvPr>
            <p:ph type="title"/>
          </p:nvPr>
        </p:nvSpPr>
        <p:spPr>
          <a:xfrm>
            <a:off x="-1481202" y="751115"/>
            <a:ext cx="8647112" cy="1120775"/>
          </a:xfrm>
        </p:spPr>
        <p:txBody>
          <a:bodyPr>
            <a:noAutofit/>
          </a:bodyPr>
          <a:lstStyle/>
          <a:p>
            <a:pPr algn="ctr"/>
            <a:r>
              <a:rPr lang="pt-BR" sz="2400" dirty="0"/>
              <a:t>Codificação de Canal</a:t>
            </a:r>
            <a:endParaRPr lang="en-US" altLang="pt-BR" sz="2400" dirty="0"/>
          </a:p>
        </p:txBody>
      </p:sp>
      <p:sp>
        <p:nvSpPr>
          <p:cNvPr id="2" name="CaixaDeTexto 1">
            <a:extLst>
              <a:ext uri="{FF2B5EF4-FFF2-40B4-BE49-F238E27FC236}">
                <a16:creationId xmlns:a16="http://schemas.microsoft.com/office/drawing/2014/main" id="{71E77064-DC0B-8B25-E506-7F2EA4865879}"/>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pic>
        <p:nvPicPr>
          <p:cNvPr id="5" name="Imagem 4">
            <a:extLst>
              <a:ext uri="{FF2B5EF4-FFF2-40B4-BE49-F238E27FC236}">
                <a16:creationId xmlns:a16="http://schemas.microsoft.com/office/drawing/2014/main" id="{FB810BE6-ACC9-5A2B-2336-89A94F4C64CD}"/>
              </a:ext>
            </a:extLst>
          </p:cNvPr>
          <p:cNvPicPr>
            <a:picLocks noChangeAspect="1"/>
          </p:cNvPicPr>
          <p:nvPr/>
        </p:nvPicPr>
        <p:blipFill>
          <a:blip r:embed="rId2"/>
          <a:stretch>
            <a:fillRect/>
          </a:stretch>
        </p:blipFill>
        <p:spPr>
          <a:xfrm>
            <a:off x="375652" y="2495419"/>
            <a:ext cx="8392696" cy="1867161"/>
          </a:xfrm>
          <a:prstGeom prst="rect">
            <a:avLst/>
          </a:prstGeom>
        </p:spPr>
      </p:pic>
    </p:spTree>
    <p:extLst>
      <p:ext uri="{BB962C8B-B14F-4D97-AF65-F5344CB8AC3E}">
        <p14:creationId xmlns:p14="http://schemas.microsoft.com/office/powerpoint/2010/main" val="728205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121B5-3922-2D3D-3E03-329208E7F9F4}"/>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8B5B487B-D79C-43D0-06B1-33F36C2D38CF}"/>
              </a:ext>
            </a:extLst>
          </p:cNvPr>
          <p:cNvSpPr>
            <a:spLocks noGrp="1" noChangeArrowheads="1"/>
          </p:cNvSpPr>
          <p:nvPr>
            <p:ph type="title"/>
          </p:nvPr>
        </p:nvSpPr>
        <p:spPr>
          <a:xfrm>
            <a:off x="-1481202" y="751115"/>
            <a:ext cx="8647112" cy="1120775"/>
          </a:xfrm>
        </p:spPr>
        <p:txBody>
          <a:bodyPr>
            <a:noAutofit/>
          </a:bodyPr>
          <a:lstStyle/>
          <a:p>
            <a:pPr algn="ctr"/>
            <a:r>
              <a:rPr lang="pt-BR" altLang="pt-BR" sz="2400" dirty="0"/>
              <a:t>modulação</a:t>
            </a:r>
            <a:endParaRPr lang="en-US" altLang="pt-BR" sz="2400" dirty="0"/>
          </a:p>
        </p:txBody>
      </p:sp>
      <p:sp>
        <p:nvSpPr>
          <p:cNvPr id="2" name="CaixaDeTexto 1">
            <a:extLst>
              <a:ext uri="{FF2B5EF4-FFF2-40B4-BE49-F238E27FC236}">
                <a16:creationId xmlns:a16="http://schemas.microsoft.com/office/drawing/2014/main" id="{C382A27B-0632-4654-A77E-943022E9FD20}"/>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65B072CA-10CA-773D-0D02-FE34D07FF365}"/>
              </a:ext>
            </a:extLst>
          </p:cNvPr>
          <p:cNvSpPr>
            <a:spLocks noChangeArrowheads="1"/>
          </p:cNvSpPr>
          <p:nvPr/>
        </p:nvSpPr>
        <p:spPr bwMode="auto">
          <a:xfrm>
            <a:off x="522515" y="2436824"/>
            <a:ext cx="844420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Arial" panose="020B0604020202020204" pitchFamily="34" charset="0"/>
              <a:buChar char="•"/>
            </a:pPr>
            <a:r>
              <a:rPr lang="pt-BR" dirty="0"/>
              <a:t>A principal novidade da modulação é a constelação não uniforme, conhecida como NUC (Non </a:t>
            </a:r>
            <a:r>
              <a:rPr lang="pt-BR" dirty="0" err="1"/>
              <a:t>Uniform</a:t>
            </a:r>
            <a:r>
              <a:rPr lang="pt-BR" dirty="0"/>
              <a:t> </a:t>
            </a:r>
            <a:r>
              <a:rPr lang="pt-BR" dirty="0" err="1"/>
              <a:t>Constellation</a:t>
            </a:r>
            <a:r>
              <a:rPr lang="pt-BR" dirty="0"/>
              <a:t>). O NUC é um esquema de modulação, onde os pontos da constelação são espaçados de forma assimétrica e sem forma definida. </a:t>
            </a:r>
          </a:p>
          <a:p>
            <a:pPr lvl="0" defTabSz="914400" eaLnBrk="0" fontAlgn="base" hangingPunct="0">
              <a:spcBef>
                <a:spcPct val="0"/>
              </a:spcBef>
              <a:spcAft>
                <a:spcPct val="0"/>
              </a:spcAf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pt-BR" dirty="0"/>
              <a:t>DTV possui os esquemas de modulação QPSK, 16 QAM e 64 QAM. </a:t>
            </a:r>
          </a:p>
          <a:p>
            <a:pPr marL="285750" lvl="0" indent="-285750" defTabSz="914400" eaLnBrk="0" fontAlgn="base" hangingPunct="0">
              <a:spcBef>
                <a:spcPct val="0"/>
              </a:spcBef>
              <a:spcAft>
                <a:spcPct val="0"/>
              </a:spcAft>
              <a:buFont typeface="Arial" panose="020B0604020202020204" pitchFamily="34" charset="0"/>
              <a:buChar char="•"/>
            </a:pPr>
            <a:endParaRPr lang="pt-BR" dirty="0"/>
          </a:p>
          <a:p>
            <a:pPr marL="285750" lvl="0" indent="-285750" defTabSz="914400" eaLnBrk="0" fontAlgn="base" hangingPunct="0">
              <a:spcBef>
                <a:spcPct val="0"/>
              </a:spcBef>
              <a:spcAft>
                <a:spcPct val="0"/>
              </a:spcAft>
              <a:buFont typeface="Arial" panose="020B0604020202020204" pitchFamily="34" charset="0"/>
              <a:buChar char="•"/>
            </a:pPr>
            <a:r>
              <a:rPr lang="pt-BR" dirty="0"/>
              <a:t>DTV+ possui os esquemas de modulação QPSK, 16 QNUC, 64 QNUC, 256 QNUC, 1KQNUC e 4KQNUC</a:t>
            </a: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839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D4E9-E8AB-A104-2C96-53495EAFC24E}"/>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6743B123-7B5E-1ABF-56B3-FFBABAD23C80}"/>
              </a:ext>
            </a:extLst>
          </p:cNvPr>
          <p:cNvSpPr>
            <a:spLocks noGrp="1" noChangeArrowheads="1"/>
          </p:cNvSpPr>
          <p:nvPr>
            <p:ph type="title"/>
          </p:nvPr>
        </p:nvSpPr>
        <p:spPr>
          <a:xfrm>
            <a:off x="-1481202" y="751115"/>
            <a:ext cx="8647112" cy="1120775"/>
          </a:xfrm>
        </p:spPr>
        <p:txBody>
          <a:bodyPr>
            <a:noAutofit/>
          </a:bodyPr>
          <a:lstStyle/>
          <a:p>
            <a:pPr algn="ctr"/>
            <a:r>
              <a:rPr lang="pt-BR" sz="2400" dirty="0"/>
              <a:t>16 QNUC</a:t>
            </a:r>
            <a:endParaRPr lang="en-US" altLang="pt-BR" sz="2400" dirty="0"/>
          </a:p>
        </p:txBody>
      </p:sp>
      <p:sp>
        <p:nvSpPr>
          <p:cNvPr id="2" name="CaixaDeTexto 1">
            <a:extLst>
              <a:ext uri="{FF2B5EF4-FFF2-40B4-BE49-F238E27FC236}">
                <a16:creationId xmlns:a16="http://schemas.microsoft.com/office/drawing/2014/main" id="{94B356FC-B79F-8AE8-E70C-AC8F040FE9BF}"/>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5" name="CaixaDeTexto 4">
            <a:extLst>
              <a:ext uri="{FF2B5EF4-FFF2-40B4-BE49-F238E27FC236}">
                <a16:creationId xmlns:a16="http://schemas.microsoft.com/office/drawing/2014/main" id="{CE1F76E2-112F-8D69-D784-B1CCEF65DC32}"/>
              </a:ext>
            </a:extLst>
          </p:cNvPr>
          <p:cNvSpPr txBox="1"/>
          <p:nvPr/>
        </p:nvSpPr>
        <p:spPr>
          <a:xfrm>
            <a:off x="466531" y="2266158"/>
            <a:ext cx="8425541" cy="3416320"/>
          </a:xfrm>
          <a:prstGeom prst="rect">
            <a:avLst/>
          </a:prstGeom>
          <a:noFill/>
        </p:spPr>
        <p:txBody>
          <a:bodyPr wrap="square">
            <a:spAutoFit/>
          </a:bodyPr>
          <a:lstStyle/>
          <a:p>
            <a:pPr>
              <a:buNone/>
            </a:pPr>
            <a:r>
              <a:rPr lang="pt-BR" b="1" dirty="0"/>
              <a:t>Modulação 16 QNUC (16-ary </a:t>
            </a:r>
            <a:r>
              <a:rPr lang="pt-BR" b="1" dirty="0" err="1"/>
              <a:t>Quadrature</a:t>
            </a:r>
            <a:r>
              <a:rPr lang="pt-BR" b="1" dirty="0"/>
              <a:t> Non-</a:t>
            </a:r>
            <a:r>
              <a:rPr lang="pt-BR" b="1" dirty="0" err="1"/>
              <a:t>Uniform</a:t>
            </a:r>
            <a:r>
              <a:rPr lang="pt-BR" b="1" dirty="0"/>
              <a:t> </a:t>
            </a:r>
            <a:r>
              <a:rPr lang="pt-BR" b="1" dirty="0" err="1"/>
              <a:t>Constellation</a:t>
            </a:r>
            <a:r>
              <a:rPr lang="pt-BR" b="1" dirty="0"/>
              <a:t>):</a:t>
            </a:r>
            <a:endParaRPr lang="pt-BR" dirty="0"/>
          </a:p>
          <a:p>
            <a:pPr>
              <a:buFont typeface="Arial" panose="020B0604020202020204" pitchFamily="34" charset="0"/>
              <a:buChar char="•"/>
            </a:pPr>
            <a:r>
              <a:rPr lang="pt-BR" b="1" dirty="0"/>
              <a:t>16-ary (16 pontos):</a:t>
            </a:r>
            <a:r>
              <a:rPr lang="pt-BR" dirty="0"/>
              <a:t> Significa que cada símbolo transmitido pode representar um de 16 estados possíveis. Como     =16, isso indica que cada símbolo de 16 QNUC carrega 4 bits de informação.</a:t>
            </a:r>
          </a:p>
          <a:p>
            <a:pPr>
              <a:buFont typeface="Arial" panose="020B0604020202020204" pitchFamily="34" charset="0"/>
              <a:buChar char="•"/>
            </a:pPr>
            <a:r>
              <a:rPr lang="pt-BR" b="1" dirty="0" err="1"/>
              <a:t>Quadrature</a:t>
            </a:r>
            <a:r>
              <a:rPr lang="pt-BR" b="1" dirty="0"/>
              <a:t> (</a:t>
            </a:r>
            <a:r>
              <a:rPr lang="pt-BR" b="1" dirty="0" err="1"/>
              <a:t>Quadrature</a:t>
            </a:r>
            <a:r>
              <a:rPr lang="pt-BR" b="1" dirty="0"/>
              <a:t> Amplitude </a:t>
            </a:r>
            <a:r>
              <a:rPr lang="pt-BR" b="1" dirty="0" err="1"/>
              <a:t>Modulation</a:t>
            </a:r>
            <a:r>
              <a:rPr lang="pt-BR" b="1" dirty="0"/>
              <a:t> - QAM base):</a:t>
            </a:r>
            <a:r>
              <a:rPr lang="pt-BR" dirty="0"/>
              <a:t> Sugere que a modulação utiliza duas portadoras que estão em quadratura (defasadas em 90 graus), permitindo a transmissão de múltiplos bits por símbolo ao variar tanto a amplitude quanto a fase do sinal.</a:t>
            </a:r>
          </a:p>
          <a:p>
            <a:pPr>
              <a:buFont typeface="Arial" panose="020B0604020202020204" pitchFamily="34" charset="0"/>
              <a:buChar char="•"/>
            </a:pPr>
            <a:r>
              <a:rPr lang="pt-BR" b="1" dirty="0"/>
              <a:t>Non-</a:t>
            </a:r>
            <a:r>
              <a:rPr lang="pt-BR" b="1" dirty="0" err="1"/>
              <a:t>Uniform</a:t>
            </a:r>
            <a:r>
              <a:rPr lang="pt-BR" b="1" dirty="0"/>
              <a:t> (Não Uniforme):</a:t>
            </a:r>
            <a:r>
              <a:rPr lang="pt-BR" dirty="0"/>
              <a:t> Este é o ponto chave e distintivo. Em uma modulação QAM uniforme (como a 16-QAM padrão), os pontos na constelação são igualmente espaçados. Em uma constelação não uniforme, como a QNUC, os pontos são espaçados de forma desigual.</a:t>
            </a:r>
          </a:p>
        </p:txBody>
      </p:sp>
      <p:pic>
        <p:nvPicPr>
          <p:cNvPr id="7" name="Imagem 6">
            <a:extLst>
              <a:ext uri="{FF2B5EF4-FFF2-40B4-BE49-F238E27FC236}">
                <a16:creationId xmlns:a16="http://schemas.microsoft.com/office/drawing/2014/main" id="{D290D712-9D0B-2D57-C77C-8507F5DE6E94}"/>
              </a:ext>
            </a:extLst>
          </p:cNvPr>
          <p:cNvPicPr>
            <a:picLocks noChangeAspect="1"/>
          </p:cNvPicPr>
          <p:nvPr/>
        </p:nvPicPr>
        <p:blipFill>
          <a:blip r:embed="rId2"/>
          <a:stretch>
            <a:fillRect/>
          </a:stretch>
        </p:blipFill>
        <p:spPr>
          <a:xfrm>
            <a:off x="3123015" y="2880516"/>
            <a:ext cx="266737" cy="257211"/>
          </a:xfrm>
          <a:prstGeom prst="rect">
            <a:avLst/>
          </a:prstGeom>
        </p:spPr>
      </p:pic>
    </p:spTree>
    <p:extLst>
      <p:ext uri="{BB962C8B-B14F-4D97-AF65-F5344CB8AC3E}">
        <p14:creationId xmlns:p14="http://schemas.microsoft.com/office/powerpoint/2010/main" val="1229727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80077-87C0-96D9-8D10-5A07778F9241}"/>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9C4BE888-295B-505F-C654-5C30C3FF0896}"/>
              </a:ext>
            </a:extLst>
          </p:cNvPr>
          <p:cNvSpPr>
            <a:spLocks noGrp="1" noChangeArrowheads="1"/>
          </p:cNvSpPr>
          <p:nvPr>
            <p:ph type="title"/>
          </p:nvPr>
        </p:nvSpPr>
        <p:spPr>
          <a:xfrm>
            <a:off x="-1481202" y="751115"/>
            <a:ext cx="8647112" cy="1120775"/>
          </a:xfrm>
        </p:spPr>
        <p:txBody>
          <a:bodyPr>
            <a:noAutofit/>
          </a:bodyPr>
          <a:lstStyle/>
          <a:p>
            <a:pPr algn="ctr"/>
            <a:r>
              <a:rPr lang="pt-BR" sz="2400" dirty="0"/>
              <a:t>16 QNUC</a:t>
            </a:r>
            <a:endParaRPr lang="en-US" altLang="pt-BR" sz="2400" dirty="0"/>
          </a:p>
        </p:txBody>
      </p:sp>
      <p:sp>
        <p:nvSpPr>
          <p:cNvPr id="2" name="CaixaDeTexto 1">
            <a:extLst>
              <a:ext uri="{FF2B5EF4-FFF2-40B4-BE49-F238E27FC236}">
                <a16:creationId xmlns:a16="http://schemas.microsoft.com/office/drawing/2014/main" id="{F076A77B-2568-8E2D-21AB-1FD75DE48D28}"/>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CaixaDeTexto 2">
            <a:extLst>
              <a:ext uri="{FF2B5EF4-FFF2-40B4-BE49-F238E27FC236}">
                <a16:creationId xmlns:a16="http://schemas.microsoft.com/office/drawing/2014/main" id="{54D094A2-71A7-4035-7DFA-9BB49CDA8C97}"/>
              </a:ext>
            </a:extLst>
          </p:cNvPr>
          <p:cNvSpPr txBox="1"/>
          <p:nvPr/>
        </p:nvSpPr>
        <p:spPr>
          <a:xfrm>
            <a:off x="961053" y="3340360"/>
            <a:ext cx="7221894" cy="523220"/>
          </a:xfrm>
          <a:prstGeom prst="rect">
            <a:avLst/>
          </a:prstGeom>
          <a:noFill/>
        </p:spPr>
        <p:txBody>
          <a:bodyPr wrap="square" rtlCol="0">
            <a:spAutoFit/>
          </a:bodyPr>
          <a:lstStyle/>
          <a:p>
            <a:pPr algn="ctr"/>
            <a:r>
              <a:rPr lang="pt-BR" sz="2800" dirty="0"/>
              <a:t>Por que não uniforme?</a:t>
            </a:r>
          </a:p>
        </p:txBody>
      </p:sp>
    </p:spTree>
    <p:extLst>
      <p:ext uri="{BB962C8B-B14F-4D97-AF65-F5344CB8AC3E}">
        <p14:creationId xmlns:p14="http://schemas.microsoft.com/office/powerpoint/2010/main" val="4124996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36A54-5691-D3D6-080F-0F4DF4154683}"/>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90FE8CBA-3388-4A90-A604-0CD67320DB39}"/>
              </a:ext>
            </a:extLst>
          </p:cNvPr>
          <p:cNvSpPr>
            <a:spLocks noGrp="1" noChangeArrowheads="1"/>
          </p:cNvSpPr>
          <p:nvPr>
            <p:ph type="title"/>
          </p:nvPr>
        </p:nvSpPr>
        <p:spPr>
          <a:xfrm>
            <a:off x="-1481202" y="751115"/>
            <a:ext cx="8647112" cy="1120775"/>
          </a:xfrm>
        </p:spPr>
        <p:txBody>
          <a:bodyPr>
            <a:noAutofit/>
          </a:bodyPr>
          <a:lstStyle/>
          <a:p>
            <a:pPr algn="ctr"/>
            <a:r>
              <a:rPr lang="pt-BR" sz="2400" dirty="0"/>
              <a:t>16 QNUC</a:t>
            </a:r>
            <a:endParaRPr lang="en-US" altLang="pt-BR" sz="2400" dirty="0"/>
          </a:p>
        </p:txBody>
      </p:sp>
      <p:sp>
        <p:nvSpPr>
          <p:cNvPr id="2" name="CaixaDeTexto 1">
            <a:extLst>
              <a:ext uri="{FF2B5EF4-FFF2-40B4-BE49-F238E27FC236}">
                <a16:creationId xmlns:a16="http://schemas.microsoft.com/office/drawing/2014/main" id="{1EEE313B-12D7-611B-7EA9-4BD4DE3969F2}"/>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5" name="CaixaDeTexto 4">
            <a:extLst>
              <a:ext uri="{FF2B5EF4-FFF2-40B4-BE49-F238E27FC236}">
                <a16:creationId xmlns:a16="http://schemas.microsoft.com/office/drawing/2014/main" id="{6EE75D81-D71D-5767-DD70-7C03E24F1A1C}"/>
              </a:ext>
            </a:extLst>
          </p:cNvPr>
          <p:cNvSpPr txBox="1"/>
          <p:nvPr/>
        </p:nvSpPr>
        <p:spPr>
          <a:xfrm>
            <a:off x="597159" y="2276670"/>
            <a:ext cx="8014996" cy="1323439"/>
          </a:xfrm>
          <a:prstGeom prst="rect">
            <a:avLst/>
          </a:prstGeom>
          <a:noFill/>
        </p:spPr>
        <p:txBody>
          <a:bodyPr wrap="square">
            <a:spAutoFit/>
          </a:bodyPr>
          <a:lstStyle/>
          <a:p>
            <a:pPr algn="just"/>
            <a:r>
              <a:rPr lang="pt-BR" sz="2000" dirty="0"/>
              <a:t>A principal razão para usar uma constelação não uniforme, especialmente em conjunto com códigos de correção de erros (como LDPC), é </a:t>
            </a:r>
            <a:r>
              <a:rPr lang="pt-BR" sz="2000" b="1" dirty="0"/>
              <a:t>otimizar o desempenho do sistema em termos de taxa de bits e robustez ao ruído</a:t>
            </a:r>
            <a:r>
              <a:rPr lang="pt-BR" sz="2000" dirty="0"/>
              <a:t>.</a:t>
            </a:r>
          </a:p>
        </p:txBody>
      </p:sp>
    </p:spTree>
    <p:extLst>
      <p:ext uri="{BB962C8B-B14F-4D97-AF65-F5344CB8AC3E}">
        <p14:creationId xmlns:p14="http://schemas.microsoft.com/office/powerpoint/2010/main" val="399799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3DED5-F021-FB0A-7A67-860091E5914B}"/>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086544BF-E3F4-505A-8848-055BFC31D082}"/>
              </a:ext>
            </a:extLst>
          </p:cNvPr>
          <p:cNvSpPr>
            <a:spLocks noGrp="1" noChangeArrowheads="1"/>
          </p:cNvSpPr>
          <p:nvPr>
            <p:ph type="title"/>
          </p:nvPr>
        </p:nvSpPr>
        <p:spPr>
          <a:xfrm>
            <a:off x="-1481202" y="751115"/>
            <a:ext cx="8647112" cy="1120775"/>
          </a:xfrm>
        </p:spPr>
        <p:txBody>
          <a:bodyPr>
            <a:noAutofit/>
          </a:bodyPr>
          <a:lstStyle/>
          <a:p>
            <a:pPr algn="ctr"/>
            <a:r>
              <a:rPr lang="pt-BR" sz="2400" dirty="0"/>
              <a:t>16 QNUC</a:t>
            </a:r>
            <a:endParaRPr lang="en-US" altLang="pt-BR" sz="2400" dirty="0"/>
          </a:p>
        </p:txBody>
      </p:sp>
      <p:sp>
        <p:nvSpPr>
          <p:cNvPr id="2" name="CaixaDeTexto 1">
            <a:extLst>
              <a:ext uri="{FF2B5EF4-FFF2-40B4-BE49-F238E27FC236}">
                <a16:creationId xmlns:a16="http://schemas.microsoft.com/office/drawing/2014/main" id="{9E7DBA5B-D757-A04C-EB23-C0C9CE58C988}"/>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084A6F77-DC20-E674-2B50-814270387C12}"/>
              </a:ext>
            </a:extLst>
          </p:cNvPr>
          <p:cNvSpPr>
            <a:spLocks noChangeArrowheads="1"/>
          </p:cNvSpPr>
          <p:nvPr/>
        </p:nvSpPr>
        <p:spPr bwMode="auto">
          <a:xfrm>
            <a:off x="479747" y="2246440"/>
            <a:ext cx="856161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a:ln>
                  <a:noFill/>
                </a:ln>
                <a:solidFill>
                  <a:schemeClr val="tx1"/>
                </a:solidFill>
                <a:effectLst/>
                <a:latin typeface="Arial" panose="020B0604020202020204" pitchFamily="34" charset="0"/>
              </a:rPr>
              <a:t>Proteger bits mais importantes:</a:t>
            </a:r>
            <a:r>
              <a:rPr kumimoji="0" lang="pt-BR" altLang="pt-BR" sz="1800" b="0" i="0" u="none" strike="noStrike" cap="none" normalizeH="0" baseline="0" dirty="0">
                <a:ln>
                  <a:noFill/>
                </a:ln>
                <a:solidFill>
                  <a:schemeClr val="tx1"/>
                </a:solidFill>
                <a:effectLst/>
                <a:latin typeface="Arial" panose="020B0604020202020204" pitchFamily="34" charset="0"/>
              </a:rPr>
              <a:t> Ao afastar os pontos que representam sequências de bits mais críticas, a distância mínima euclidiana entre esses pontos aumenta, tornando-os mais robustos ao ruído e, consequentemente, diminuindo a probabilidade de erro para esses bits.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1800" b="1" i="0" u="none" strike="noStrike" cap="none" normalizeH="0" baseline="0" dirty="0">
                <a:ln>
                  <a:noFill/>
                </a:ln>
                <a:solidFill>
                  <a:schemeClr val="tx1"/>
                </a:solidFill>
                <a:effectLst/>
                <a:latin typeface="Arial" panose="020B0604020202020204" pitchFamily="34" charset="0"/>
              </a:rPr>
              <a:t>Otimizar o desempenho com códigos de correção de erros:</a:t>
            </a:r>
            <a:r>
              <a:rPr kumimoji="0" lang="pt-BR" altLang="pt-BR" sz="1800" b="0" i="0" u="none" strike="noStrike" cap="none" normalizeH="0" baseline="0" dirty="0">
                <a:ln>
                  <a:noFill/>
                </a:ln>
                <a:solidFill>
                  <a:schemeClr val="tx1"/>
                </a:solidFill>
                <a:effectLst/>
                <a:latin typeface="Arial" panose="020B0604020202020204" pitchFamily="34" charset="0"/>
              </a:rPr>
              <a:t> Quando a modulação é usada em conjunto com um código LDPC (ou qualquer outro código de canal), a forma não uniforme da constelação pode ser projetada para complementar as características do código. Isso permite que o sistema como um todo atinja uma taxa de erro de bits (BER) melhor para uma dada relação sinal-ruído (SNR) ou alcance uma maior eficiência espectral. </a:t>
            </a:r>
          </a:p>
        </p:txBody>
      </p:sp>
    </p:spTree>
    <p:extLst>
      <p:ext uri="{BB962C8B-B14F-4D97-AF65-F5344CB8AC3E}">
        <p14:creationId xmlns:p14="http://schemas.microsoft.com/office/powerpoint/2010/main" val="110798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4790-CA90-8E38-A679-3B58032EC27F}"/>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64E116DB-ED02-A537-C9F3-63DD6CBEADEB}"/>
              </a:ext>
            </a:extLst>
          </p:cNvPr>
          <p:cNvSpPr>
            <a:spLocks noGrp="1" noChangeArrowheads="1"/>
          </p:cNvSpPr>
          <p:nvPr>
            <p:ph type="title"/>
          </p:nvPr>
        </p:nvSpPr>
        <p:spPr>
          <a:xfrm>
            <a:off x="-1481202" y="751115"/>
            <a:ext cx="8647112" cy="1120775"/>
          </a:xfrm>
        </p:spPr>
        <p:txBody>
          <a:bodyPr>
            <a:noAutofit/>
          </a:bodyPr>
          <a:lstStyle/>
          <a:p>
            <a:pPr algn="ctr"/>
            <a:r>
              <a:rPr lang="pt-BR" sz="2400" dirty="0"/>
              <a:t>OFDM Avançado</a:t>
            </a:r>
            <a:endParaRPr lang="en-US" altLang="pt-BR" sz="2400" dirty="0"/>
          </a:p>
        </p:txBody>
      </p:sp>
      <p:sp>
        <p:nvSpPr>
          <p:cNvPr id="2" name="CaixaDeTexto 1">
            <a:extLst>
              <a:ext uri="{FF2B5EF4-FFF2-40B4-BE49-F238E27FC236}">
                <a16:creationId xmlns:a16="http://schemas.microsoft.com/office/drawing/2014/main" id="{8894432E-354F-1BC4-F1A0-A645C3F5AC21}"/>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5" name="CaixaDeTexto 4">
            <a:extLst>
              <a:ext uri="{FF2B5EF4-FFF2-40B4-BE49-F238E27FC236}">
                <a16:creationId xmlns:a16="http://schemas.microsoft.com/office/drawing/2014/main" id="{A2D1C5FF-564D-E571-620C-6CEE6D56996B}"/>
              </a:ext>
            </a:extLst>
          </p:cNvPr>
          <p:cNvSpPr txBox="1"/>
          <p:nvPr/>
        </p:nvSpPr>
        <p:spPr>
          <a:xfrm>
            <a:off x="793102" y="2146042"/>
            <a:ext cx="6913984" cy="1200329"/>
          </a:xfrm>
          <a:prstGeom prst="rect">
            <a:avLst/>
          </a:prstGeom>
          <a:noFill/>
        </p:spPr>
        <p:txBody>
          <a:bodyPr wrap="square">
            <a:spAutoFit/>
          </a:bodyPr>
          <a:lstStyle/>
          <a:p>
            <a:pPr marL="285750" indent="-285750">
              <a:buFont typeface="Arial" panose="020B0604020202020204" pitchFamily="34" charset="0"/>
              <a:buChar char="•"/>
            </a:pPr>
            <a:r>
              <a:rPr lang="pt-BR" dirty="0"/>
              <a:t>Aumento no número de portadoras (de 5.617 para 27.649).</a:t>
            </a:r>
          </a:p>
          <a:p>
            <a:pPr marL="285750" indent="-285750">
              <a:buFont typeface="Arial" panose="020B0604020202020204" pitchFamily="34" charset="0"/>
              <a:buChar char="•"/>
            </a:pPr>
            <a:endParaRPr lang="pt-BR" dirty="0"/>
          </a:p>
          <a:p>
            <a:pPr marL="285750" indent="-285750">
              <a:buFont typeface="Arial" panose="020B0604020202020204" pitchFamily="34" charset="0"/>
              <a:buChar char="•"/>
            </a:pPr>
            <a:r>
              <a:rPr lang="pt-BR" dirty="0"/>
              <a:t>Aumento da robustez contra o desvanecimento de frequência seletivo</a:t>
            </a:r>
          </a:p>
        </p:txBody>
      </p:sp>
    </p:spTree>
    <p:extLst>
      <p:ext uri="{BB962C8B-B14F-4D97-AF65-F5344CB8AC3E}">
        <p14:creationId xmlns:p14="http://schemas.microsoft.com/office/powerpoint/2010/main" val="136200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1609C-3FE5-54A1-1321-A335836EBB1C}"/>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A7E130C4-D51F-B3EB-ED55-EB4BCD43B177}"/>
              </a:ext>
            </a:extLst>
          </p:cNvPr>
          <p:cNvSpPr>
            <a:spLocks noGrp="1" noChangeArrowheads="1"/>
          </p:cNvSpPr>
          <p:nvPr>
            <p:ph type="title"/>
          </p:nvPr>
        </p:nvSpPr>
        <p:spPr>
          <a:xfrm>
            <a:off x="-1481202" y="751115"/>
            <a:ext cx="8647112" cy="1120775"/>
          </a:xfrm>
        </p:spPr>
        <p:txBody>
          <a:bodyPr>
            <a:noAutofit/>
          </a:bodyPr>
          <a:lstStyle/>
          <a:p>
            <a:pPr algn="ctr"/>
            <a:r>
              <a:rPr lang="pt-BR" altLang="pt-BR" sz="2400" dirty="0"/>
              <a:t>Tecnologias adicionais</a:t>
            </a:r>
            <a:endParaRPr lang="en-US" altLang="pt-BR" sz="2400" dirty="0"/>
          </a:p>
        </p:txBody>
      </p:sp>
      <p:sp>
        <p:nvSpPr>
          <p:cNvPr id="2" name="CaixaDeTexto 1">
            <a:extLst>
              <a:ext uri="{FF2B5EF4-FFF2-40B4-BE49-F238E27FC236}">
                <a16:creationId xmlns:a16="http://schemas.microsoft.com/office/drawing/2014/main" id="{9CC941D0-5846-C5C5-782A-5826C1AE7FBD}"/>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4D4C29E6-2535-366E-2228-CF6253A6A4D9}"/>
              </a:ext>
            </a:extLst>
          </p:cNvPr>
          <p:cNvSpPr>
            <a:spLocks noChangeArrowheads="1"/>
          </p:cNvSpPr>
          <p:nvPr/>
        </p:nvSpPr>
        <p:spPr bwMode="auto">
          <a:xfrm>
            <a:off x="611156" y="2146206"/>
            <a:ext cx="835556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000" b="1" i="0" u="none" strike="noStrike" cap="none" normalizeH="0" baseline="0" dirty="0">
                <a:ln>
                  <a:noFill/>
                </a:ln>
                <a:solidFill>
                  <a:schemeClr val="tx1"/>
                </a:solidFill>
                <a:effectLst/>
                <a:latin typeface="Arial" panose="020B0604020202020204" pitchFamily="34" charset="0"/>
              </a:rPr>
              <a:t>LDM (</a:t>
            </a:r>
            <a:r>
              <a:rPr kumimoji="0" lang="pt-BR" altLang="pt-BR" sz="2000" b="1" i="0" u="none" strike="noStrike" cap="none" normalizeH="0" baseline="0" dirty="0" err="1">
                <a:ln>
                  <a:noFill/>
                </a:ln>
                <a:solidFill>
                  <a:schemeClr val="tx1"/>
                </a:solidFill>
                <a:effectLst/>
                <a:latin typeface="Arial" panose="020B0604020202020204" pitchFamily="34" charset="0"/>
              </a:rPr>
              <a:t>Layered</a:t>
            </a:r>
            <a:r>
              <a:rPr kumimoji="0" lang="pt-BR" altLang="pt-BR" sz="2000" b="1" i="0" u="none" strike="noStrike" cap="none" normalizeH="0" baseline="0" dirty="0">
                <a:ln>
                  <a:noFill/>
                </a:ln>
                <a:solidFill>
                  <a:schemeClr val="tx1"/>
                </a:solidFill>
                <a:effectLst/>
                <a:latin typeface="Arial" panose="020B0604020202020204" pitchFamily="34" charset="0"/>
              </a:rPr>
              <a:t> Division </a:t>
            </a:r>
            <a:r>
              <a:rPr kumimoji="0" lang="pt-BR" altLang="pt-BR" sz="2000" b="1" i="0" u="none" strike="noStrike" cap="none" normalizeH="0" baseline="0" dirty="0" err="1">
                <a:ln>
                  <a:noFill/>
                </a:ln>
                <a:solidFill>
                  <a:schemeClr val="tx1"/>
                </a:solidFill>
                <a:effectLst/>
                <a:latin typeface="Arial" panose="020B0604020202020204" pitchFamily="34" charset="0"/>
              </a:rPr>
              <a:t>Multiplexing</a:t>
            </a:r>
            <a:r>
              <a:rPr kumimoji="0" lang="pt-BR" altLang="pt-BR" sz="2000" b="1" i="0" u="none" strike="noStrike" cap="none" normalizeH="0" baseline="0" dirty="0">
                <a:ln>
                  <a:noFill/>
                </a:ln>
                <a:solidFill>
                  <a:schemeClr val="tx1"/>
                </a:solidFill>
                <a:effectLst/>
                <a:latin typeface="Arial" panose="020B0604020202020204" pitchFamily="34" charset="0"/>
              </a:rPr>
              <a:t>)</a:t>
            </a:r>
            <a:r>
              <a:rPr kumimoji="0" lang="pt-BR" altLang="pt-BR" sz="2000" b="0" i="0" u="none" strike="noStrike" cap="none" normalizeH="0" baseline="0" dirty="0">
                <a:ln>
                  <a:noFill/>
                </a:ln>
                <a:solidFill>
                  <a:schemeClr val="tx1"/>
                </a:solidFill>
                <a:effectLst/>
                <a:latin typeface="Arial" panose="020B0604020202020204" pitchFamily="34" charset="0"/>
              </a:rPr>
              <a:t>: duas camadas simultâneas de dados com diferentes potências.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000" b="1" i="0" u="none" strike="noStrike" cap="none" normalizeH="0" baseline="0" dirty="0">
                <a:ln>
                  <a:noFill/>
                </a:ln>
                <a:solidFill>
                  <a:schemeClr val="tx1"/>
                </a:solidFill>
                <a:effectLst/>
                <a:latin typeface="Arial" panose="020B0604020202020204" pitchFamily="34" charset="0"/>
              </a:rPr>
              <a:t>MIMO 2x2</a:t>
            </a:r>
            <a:r>
              <a:rPr kumimoji="0" lang="pt-BR" altLang="pt-BR" sz="2000" b="0" i="0" u="none" strike="noStrike" cap="none" normalizeH="0" baseline="0" dirty="0">
                <a:ln>
                  <a:noFill/>
                </a:ln>
                <a:solidFill>
                  <a:schemeClr val="tx1"/>
                </a:solidFill>
                <a:effectLst/>
                <a:latin typeface="Arial" panose="020B0604020202020204" pitchFamily="34" charset="0"/>
              </a:rPr>
              <a:t>: uso de múltiplas antenas para dobrar a taxa de transmissão.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000" b="1" i="0" u="none" strike="noStrike" cap="none" normalizeH="0" baseline="0" dirty="0" err="1">
                <a:ln>
                  <a:noFill/>
                </a:ln>
                <a:solidFill>
                  <a:schemeClr val="tx1"/>
                </a:solidFill>
                <a:effectLst/>
                <a:latin typeface="Arial" panose="020B0604020202020204" pitchFamily="34" charset="0"/>
              </a:rPr>
              <a:t>TxID</a:t>
            </a:r>
            <a:r>
              <a:rPr kumimoji="0" lang="pt-BR" altLang="pt-BR" sz="2000" b="0" i="0" u="none" strike="noStrike" cap="none" normalizeH="0" baseline="0" dirty="0">
                <a:ln>
                  <a:noFill/>
                </a:ln>
                <a:solidFill>
                  <a:schemeClr val="tx1"/>
                </a:solidFill>
                <a:effectLst/>
                <a:latin typeface="Arial" panose="020B0604020202020204" pitchFamily="34" charset="0"/>
              </a:rPr>
              <a:t>: identificação da estação transmissora para segmentação geográfica de conteúdo.</a:t>
            </a:r>
          </a:p>
        </p:txBody>
      </p:sp>
    </p:spTree>
    <p:extLst>
      <p:ext uri="{BB962C8B-B14F-4D97-AF65-F5344CB8AC3E}">
        <p14:creationId xmlns:p14="http://schemas.microsoft.com/office/powerpoint/2010/main" val="1708834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B299-2AAD-699C-E9F7-0C1FAC1F2DEC}"/>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92108D5B-1674-4889-4109-78A7B6088300}"/>
              </a:ext>
            </a:extLst>
          </p:cNvPr>
          <p:cNvSpPr>
            <a:spLocks noGrp="1" noChangeArrowheads="1"/>
          </p:cNvSpPr>
          <p:nvPr>
            <p:ph type="title"/>
          </p:nvPr>
        </p:nvSpPr>
        <p:spPr>
          <a:xfrm>
            <a:off x="-1481202" y="751115"/>
            <a:ext cx="8647112" cy="1120775"/>
          </a:xfrm>
        </p:spPr>
        <p:txBody>
          <a:bodyPr>
            <a:noAutofit/>
          </a:bodyPr>
          <a:lstStyle/>
          <a:p>
            <a:pPr algn="ctr"/>
            <a:r>
              <a:rPr lang="pt-BR" altLang="pt-BR" sz="2400" dirty="0"/>
              <a:t>conclusão</a:t>
            </a:r>
            <a:endParaRPr lang="en-US" altLang="pt-BR" sz="2400" dirty="0"/>
          </a:p>
        </p:txBody>
      </p:sp>
      <p:sp>
        <p:nvSpPr>
          <p:cNvPr id="2" name="CaixaDeTexto 1">
            <a:extLst>
              <a:ext uri="{FF2B5EF4-FFF2-40B4-BE49-F238E27FC236}">
                <a16:creationId xmlns:a16="http://schemas.microsoft.com/office/drawing/2014/main" id="{71D5B610-BBF4-C8C7-606B-D9E7D216BDC2}"/>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10B2739E-0380-E68F-7F93-9DEDE4BE7E72}"/>
              </a:ext>
            </a:extLst>
          </p:cNvPr>
          <p:cNvSpPr>
            <a:spLocks noChangeArrowheads="1"/>
          </p:cNvSpPr>
          <p:nvPr/>
        </p:nvSpPr>
        <p:spPr bwMode="auto">
          <a:xfrm>
            <a:off x="447870" y="2211371"/>
            <a:ext cx="833223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pt-BR" sz="2000" dirty="0"/>
              <a:t>As melhorias da codificação de canal e da modulação, assim como implementação de novas tecnologias, como BICM, LDPC, QNUC, MIMO, LDM e </a:t>
            </a:r>
            <a:r>
              <a:rPr lang="pt-BR" sz="2000" dirty="0" err="1"/>
              <a:t>TxID</a:t>
            </a:r>
            <a:r>
              <a:rPr lang="pt-BR" sz="2000" dirty="0"/>
              <a:t> são essenciais para que o DTV+ ofereça os novos serviços para toda a população</a:t>
            </a:r>
            <a:endParaRPr kumimoji="0" lang="pt-BR" altLang="pt-B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5730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17399-8B0D-EC97-A20B-F37C8E558B61}"/>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A6C8C7AF-EF7F-C934-D319-C78C47B5E4FA}"/>
              </a:ext>
            </a:extLst>
          </p:cNvPr>
          <p:cNvSpPr>
            <a:spLocks noGrp="1" noChangeArrowheads="1"/>
          </p:cNvSpPr>
          <p:nvPr>
            <p:ph type="title"/>
          </p:nvPr>
        </p:nvSpPr>
        <p:spPr>
          <a:xfrm>
            <a:off x="-1481202" y="751115"/>
            <a:ext cx="8647112" cy="1120775"/>
          </a:xfrm>
        </p:spPr>
        <p:txBody>
          <a:bodyPr>
            <a:noAutofit/>
          </a:bodyPr>
          <a:lstStyle/>
          <a:p>
            <a:pPr algn="ctr"/>
            <a:r>
              <a:rPr lang="pt-BR" altLang="pt-BR" sz="2400" dirty="0"/>
              <a:t>atividade</a:t>
            </a:r>
            <a:endParaRPr lang="en-US" altLang="pt-BR" sz="2400" dirty="0"/>
          </a:p>
        </p:txBody>
      </p:sp>
      <p:sp>
        <p:nvSpPr>
          <p:cNvPr id="2" name="CaixaDeTexto 1">
            <a:extLst>
              <a:ext uri="{FF2B5EF4-FFF2-40B4-BE49-F238E27FC236}">
                <a16:creationId xmlns:a16="http://schemas.microsoft.com/office/drawing/2014/main" id="{A26D35B6-1BDD-2FD6-3DAF-EC8170130952}"/>
              </a:ext>
            </a:extLst>
          </p:cNvPr>
          <p:cNvSpPr txBox="1"/>
          <p:nvPr/>
        </p:nvSpPr>
        <p:spPr>
          <a:xfrm flipV="1">
            <a:off x="1201898" y="6353746"/>
            <a:ext cx="7764821" cy="923330"/>
          </a:xfrm>
          <a:prstGeom prst="rect">
            <a:avLst/>
          </a:prstGeom>
          <a:noFill/>
        </p:spPr>
        <p:txBody>
          <a:bodyPr wrap="square" rtlCol="0">
            <a:spAutoFit/>
          </a:bodyPr>
          <a:lstStyle/>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pt-BR" dirty="0"/>
          </a:p>
        </p:txBody>
      </p:sp>
      <p:sp>
        <p:nvSpPr>
          <p:cNvPr id="3" name="Rectangle 1">
            <a:extLst>
              <a:ext uri="{FF2B5EF4-FFF2-40B4-BE49-F238E27FC236}">
                <a16:creationId xmlns:a16="http://schemas.microsoft.com/office/drawing/2014/main" id="{6F76E897-0E20-2F66-6230-82741E04FB76}"/>
              </a:ext>
            </a:extLst>
          </p:cNvPr>
          <p:cNvSpPr>
            <a:spLocks noChangeArrowheads="1"/>
          </p:cNvSpPr>
          <p:nvPr/>
        </p:nvSpPr>
        <p:spPr bwMode="auto">
          <a:xfrm>
            <a:off x="513184" y="2173826"/>
            <a:ext cx="833223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defTabSz="914400" eaLnBrk="0" fontAlgn="base" hangingPunct="0">
              <a:spcBef>
                <a:spcPct val="0"/>
              </a:spcBef>
              <a:spcAft>
                <a:spcPct val="0"/>
              </a:spcAft>
              <a:buAutoNum type="arabicPeriod"/>
            </a:pPr>
            <a:r>
              <a:rPr lang="pt-BR" sz="2000" dirty="0"/>
              <a:t>A modulação QNUC oferece vantagens em canais ruidosos, mas será eficiente em todos os cenários urbanos?</a:t>
            </a:r>
          </a:p>
          <a:p>
            <a:pPr marL="457200" lvl="0" indent="-457200" algn="just" defTabSz="914400" eaLnBrk="0" fontAlgn="base" hangingPunct="0">
              <a:spcBef>
                <a:spcPct val="0"/>
              </a:spcBef>
              <a:spcAft>
                <a:spcPct val="0"/>
              </a:spcAft>
              <a:buAutoNum type="arabicPeriod"/>
            </a:pPr>
            <a:r>
              <a:rPr lang="pt-BR" sz="2000" dirty="0"/>
              <a:t>As antenas MIMO 2X2 requer maior consumo energético. Como isso afeta o planejamento de estações transmissoras?</a:t>
            </a:r>
          </a:p>
          <a:p>
            <a:pPr marL="457200" lvl="0" indent="-457200" algn="just" defTabSz="914400" eaLnBrk="0" fontAlgn="base" hangingPunct="0">
              <a:spcBef>
                <a:spcPct val="0"/>
              </a:spcBef>
              <a:spcAft>
                <a:spcPct val="0"/>
              </a:spcAft>
              <a:buAutoNum type="arabicPeriod"/>
            </a:pPr>
            <a:r>
              <a:rPr lang="pt-BR" sz="2000" dirty="0"/>
              <a:t>Como garantir a privacidade do usuário em transmissões segmentadas por localidade devido a tecnologia </a:t>
            </a:r>
            <a:r>
              <a:rPr lang="pt-BR" sz="2000" dirty="0" err="1"/>
              <a:t>TxID</a:t>
            </a:r>
            <a:r>
              <a:rPr lang="pt-BR" sz="2000" dirty="0"/>
              <a:t>?</a:t>
            </a:r>
            <a:endParaRPr kumimoji="0" lang="pt-BR" altLang="pt-B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184774"/>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TM03457464[[fn=Dividendo]]</Template>
  <TotalTime>4317</TotalTime>
  <Words>1028</Words>
  <Application>Microsoft Office PowerPoint</Application>
  <PresentationFormat>Apresentação na tela (4:3)</PresentationFormat>
  <Paragraphs>80</Paragraphs>
  <Slides>25</Slides>
  <Notes>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25</vt:i4>
      </vt:variant>
    </vt:vector>
  </HeadingPairs>
  <TitlesOfParts>
    <vt:vector size="33" baseType="lpstr">
      <vt:lpstr>Arial</vt:lpstr>
      <vt:lpstr>Calibri</vt:lpstr>
      <vt:lpstr>Courier New</vt:lpstr>
      <vt:lpstr>Gill Sans MT</vt:lpstr>
      <vt:lpstr>Times New Roman</vt:lpstr>
      <vt:lpstr>Wingdings</vt:lpstr>
      <vt:lpstr>Wingdings 2</vt:lpstr>
      <vt:lpstr>Dividendo</vt:lpstr>
      <vt:lpstr> tv digital</vt:lpstr>
      <vt:lpstr>ARQUITETURA DA TV DIGITAL</vt:lpstr>
      <vt:lpstr>ARQUITETURA DA TV DIGITAL</vt:lpstr>
      <vt:lpstr>Taxa máxima de um canal  </vt:lpstr>
      <vt:lpstr>Teorema de Nyquist com a taxa de amostragem </vt:lpstr>
      <vt:lpstr>Taxa máxima de um canal </vt:lpstr>
      <vt:lpstr>Taxa máxima de um canal </vt:lpstr>
      <vt:lpstr>Taxa máxima de um canal </vt:lpstr>
      <vt:lpstr>Taxa máxima de um canal </vt:lpstr>
      <vt:lpstr>Taxa máxima de um canal </vt:lpstr>
      <vt:lpstr>Taxa máxima de um canal x taxa de amostragem </vt:lpstr>
      <vt:lpstr>ARQUITETURA DA TV DIGITAL</vt:lpstr>
      <vt:lpstr>Codificação de Canal</vt:lpstr>
      <vt:lpstr>Codificação de Canal</vt:lpstr>
      <vt:lpstr>Codificação de Canal</vt:lpstr>
      <vt:lpstr>Codificação de Canal</vt:lpstr>
      <vt:lpstr>modulação</vt:lpstr>
      <vt:lpstr>16 QNUC</vt:lpstr>
      <vt:lpstr>16 QNUC</vt:lpstr>
      <vt:lpstr>16 QNUC</vt:lpstr>
      <vt:lpstr>16 QNUC</vt:lpstr>
      <vt:lpstr>OFDM Avançado</vt:lpstr>
      <vt:lpstr>Tecnologias adicionais</vt:lpstr>
      <vt:lpstr>conclusão</vt:lpstr>
      <vt:lpstr>atividade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Pinheiro de Moura</dc:creator>
  <cp:lastModifiedBy>Thiago Pierre</cp:lastModifiedBy>
  <cp:revision>144</cp:revision>
  <dcterms:created xsi:type="dcterms:W3CDTF">2017-08-18T18:18:13Z</dcterms:created>
  <dcterms:modified xsi:type="dcterms:W3CDTF">2025-06-24T23:22:21Z</dcterms:modified>
</cp:coreProperties>
</file>