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4"/>
  </p:notesMasterIdLst>
  <p:sldIdLst>
    <p:sldId id="256" r:id="rId2"/>
    <p:sldId id="322" r:id="rId3"/>
    <p:sldId id="408" r:id="rId4"/>
    <p:sldId id="346" r:id="rId5"/>
    <p:sldId id="421" r:id="rId6"/>
    <p:sldId id="420" r:id="rId7"/>
    <p:sldId id="402" r:id="rId8"/>
    <p:sldId id="404" r:id="rId9"/>
    <p:sldId id="422" r:id="rId10"/>
    <p:sldId id="423" r:id="rId11"/>
    <p:sldId id="413" r:id="rId12"/>
    <p:sldId id="414" r:id="rId13"/>
    <p:sldId id="415" r:id="rId14"/>
    <p:sldId id="416" r:id="rId15"/>
    <p:sldId id="417" r:id="rId16"/>
    <p:sldId id="418" r:id="rId17"/>
    <p:sldId id="419" r:id="rId18"/>
    <p:sldId id="428" r:id="rId19"/>
    <p:sldId id="424" r:id="rId20"/>
    <p:sldId id="426" r:id="rId21"/>
    <p:sldId id="425" r:id="rId22"/>
    <p:sldId id="427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4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DB5E3-2948-4F50-8824-AE06E1D0A06B}" type="datetimeFigureOut">
              <a:rPr lang="pt-BR" smtClean="0"/>
              <a:t>01/07/2025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9C26F-9422-4EA0-A797-93FA282CF1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37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3270697"/>
            <a:ext cx="7989752" cy="2009022"/>
          </a:xfrm>
          <a:effectLst/>
        </p:spPr>
        <p:txBody>
          <a:bodyPr anchor="ctr">
            <a:norm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5507892"/>
            <a:ext cx="7989752" cy="6545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cap="all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534" y="629058"/>
            <a:ext cx="6515067" cy="237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76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4640930" cy="1083329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3325D-79A5-4688-A5E6-0F8C9B164ED9}" type="datetime1">
              <a:rPr lang="pt-BR" smtClean="0"/>
              <a:t>01/07/2025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64A3-54D4-484B-AD36-546867F49A39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977" y="638804"/>
            <a:ext cx="3232967" cy="118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39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984D691-CD09-4DB8-8EB4-5265295325C4}" type="datetime1">
              <a:rPr lang="pt-BR" smtClean="0"/>
              <a:t>01/07/2025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0564A3-54D4-484B-AD36-546867F49A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90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66085-25DB-418A-B5E1-54F1E838213F}" type="datetime1">
              <a:rPr lang="pt-BR" smtClean="0"/>
              <a:t>01/07/2025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64A3-54D4-484B-AD36-546867F49A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58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5F649-C94E-4C99-9BE4-32ECD27AB50F}" type="datetime1">
              <a:rPr lang="pt-BR" smtClean="0"/>
              <a:t>01/07/2025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64A3-54D4-484B-AD36-546867F49A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147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AB829-D581-4665-96B0-996068420369}" type="datetime1">
              <a:rPr lang="pt-BR" smtClean="0"/>
              <a:t>01/07/2025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64A3-54D4-484B-AD36-546867F49A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067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B299-0DCE-493F-986B-CE000537CCA3}" type="datetime1">
              <a:rPr lang="pt-BR" smtClean="0"/>
              <a:t>01/07/2025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64A3-54D4-484B-AD36-546867F49A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071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8378BD4-78FC-4061-B86F-8E557D07F491}" type="datetime1">
              <a:rPr lang="pt-BR" smtClean="0"/>
              <a:t>01/07/2025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0564A3-54D4-484B-AD36-546867F49A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564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3F0D0-C9C7-420B-81F3-C74C3D5AABCF}" type="datetime1">
              <a:rPr lang="pt-BR" smtClean="0"/>
              <a:t>01/07/2025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64A3-54D4-484B-AD36-546867F49A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22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B5964-17E2-4FEB-A78A-1A4279B4E3FA}" type="datetime1">
              <a:rPr lang="pt-BR" smtClean="0"/>
              <a:t>01/07/2025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564A3-54D4-484B-AD36-546867F49A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05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C1716DD-6962-4492-918D-E30F60EF3FA3}" type="datetime1">
              <a:rPr lang="pt-BR" smtClean="0"/>
              <a:t>01/07/2025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0564A3-54D4-484B-AD36-546867F49A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72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 dirty="0"/>
              <a:t> Editar estilos de texto Mestre</a:t>
            </a:r>
          </a:p>
          <a:p>
            <a:pPr lvl="1"/>
            <a:r>
              <a:rPr lang="pt-BR" dirty="0"/>
              <a:t> Segundo nível</a:t>
            </a:r>
          </a:p>
          <a:p>
            <a:pPr lvl="2"/>
            <a:r>
              <a:rPr lang="pt-BR" dirty="0"/>
              <a:t> Terceiro nível</a:t>
            </a:r>
          </a:p>
          <a:p>
            <a:pPr lvl="3"/>
            <a:r>
              <a:rPr lang="pt-BR" dirty="0"/>
              <a:t> Quarto nível</a:t>
            </a:r>
          </a:p>
          <a:p>
            <a:pPr lvl="4"/>
            <a:r>
              <a:rPr lang="pt-BR" dirty="0"/>
              <a:t> 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accent2"/>
                </a:solidFill>
              </a:defRPr>
            </a:lvl1pPr>
          </a:lstStyle>
          <a:p>
            <a:fld id="{1A113A3A-8002-4BEB-87C4-2273A0C387C3}" type="datetime1">
              <a:rPr lang="pt-BR" smtClean="0"/>
              <a:t>01/07/2025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cap="all">
                <a:solidFill>
                  <a:schemeClr val="accent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accent2"/>
                </a:solidFill>
              </a:defRPr>
            </a:lvl1pPr>
          </a:lstStyle>
          <a:p>
            <a:fld id="{BE0564A3-54D4-484B-AD36-546867F49A39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9681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3600" kern="1200">
          <a:solidFill>
            <a:schemeClr val="tx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" panose="05000000000000000000" pitchFamily="2" charset="2"/>
        <a:buChar char="q"/>
        <a:defRPr sz="3200" kern="1200">
          <a:solidFill>
            <a:schemeClr val="tx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Courier New" panose="02070309020205020404" pitchFamily="49" charset="0"/>
        <a:buChar char="o"/>
        <a:defRPr sz="2800" kern="1200">
          <a:solidFill>
            <a:schemeClr val="tx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" panose="05000000000000000000" pitchFamily="2" charset="2"/>
        <a:buChar char="§"/>
        <a:defRPr sz="2400" kern="1200">
          <a:solidFill>
            <a:schemeClr val="tx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" panose="05000000000000000000" pitchFamily="2" charset="2"/>
        <a:buChar char="q"/>
        <a:defRPr sz="2400" kern="1200">
          <a:solidFill>
            <a:schemeClr val="tx2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pt-BR" dirty="0"/>
            </a:br>
            <a:r>
              <a:rPr lang="pt-BR" dirty="0"/>
              <a:t>tv digital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altLang="pt-BR" dirty="0"/>
              <a:t>Padrão DVB</a:t>
            </a:r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2682342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818D6-DF60-4FFD-99B8-AC53CA5B5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1504AB81-6065-1E0A-1807-923A612FA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275928" y="704462"/>
            <a:ext cx="8647112" cy="112077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pt-BR" sz="2400" dirty="0" err="1"/>
              <a:t>Padrão</a:t>
            </a:r>
            <a:r>
              <a:rPr lang="en-US" altLang="pt-BR" sz="2400" dirty="0"/>
              <a:t> DVB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909B8E8-E15F-1CFB-2C63-3A6C544C2A07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D983AD-38B4-C646-72B8-6FC15FFE5B88}"/>
              </a:ext>
            </a:extLst>
          </p:cNvPr>
          <p:cNvSpPr txBox="1"/>
          <p:nvPr/>
        </p:nvSpPr>
        <p:spPr>
          <a:xfrm>
            <a:off x="727787" y="1987420"/>
            <a:ext cx="7764821" cy="103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DVB é um consórcio criado em 1993, com mais de 300 membros, que desenvolveu soluções para codificação e transmissão de TV digital. Embora tenha começado na Europa, tornou-se um padrão global.</a:t>
            </a:r>
          </a:p>
        </p:txBody>
      </p:sp>
    </p:spTree>
    <p:extLst>
      <p:ext uri="{BB962C8B-B14F-4D97-AF65-F5344CB8AC3E}">
        <p14:creationId xmlns:p14="http://schemas.microsoft.com/office/powerpoint/2010/main" val="3974846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65B67-64CC-02E2-DA7B-14F67EC9F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0FD3F2A-9372-858E-5DD1-26D46563A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275928" y="704462"/>
            <a:ext cx="8647112" cy="112077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pt-BR" sz="2400" dirty="0"/>
              <a:t>FOCO E APLICAÇÃO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D89B57D-7547-223A-1D19-1A266ABE0AB4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90EFCC-0378-0FE8-6D1E-BAE57AC4DB15}"/>
              </a:ext>
            </a:extLst>
          </p:cNvPr>
          <p:cNvSpPr txBox="1"/>
          <p:nvPr/>
        </p:nvSpPr>
        <p:spPr>
          <a:xfrm>
            <a:off x="615819" y="2127380"/>
            <a:ext cx="7968343" cy="1032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DVB é voltado para o cliente doméstico, mas também é usado em aplicações profissionais. Ele permite a recepção de sinais digitais por dispositivos portáteis e móveis.</a:t>
            </a:r>
          </a:p>
        </p:txBody>
      </p:sp>
    </p:spTree>
    <p:extLst>
      <p:ext uri="{BB962C8B-B14F-4D97-AF65-F5344CB8AC3E}">
        <p14:creationId xmlns:p14="http://schemas.microsoft.com/office/powerpoint/2010/main" val="237261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7AF65-6DE6-A304-9E82-9D44F5A4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1F375E89-6E39-D193-5F31-BF27D9DCE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pt-BR" sz="2400" dirty="0"/>
              <a:t>PADRÕES DE TRANSMISSÃO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DF5B96-F10B-7502-DAD0-19848B457E32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A8DCF96-5E6B-B6A2-B83F-B893D560B1F1}"/>
              </a:ext>
            </a:extLst>
          </p:cNvPr>
          <p:cNvSpPr txBox="1"/>
          <p:nvPr/>
        </p:nvSpPr>
        <p:spPr>
          <a:xfrm>
            <a:off x="671804" y="2080728"/>
            <a:ext cx="7884367" cy="313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DVB possui várias configurações para a camada de transmissão, cada uma com uma relação capacidade-robustez diferente. Os principais padrões são: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DVB-T: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Transmissão terrestre.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DVB-C: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Transmissão via cabo.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DVB-H: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Transmissão para dispositivos portáteis.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DVB-S: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Transmissão via satélite.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DVB-MC/MS: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Transmissão via micro-ondas (com MC operando abaixo de 10 GHz e MS acima de 10 GHz).</a:t>
            </a:r>
          </a:p>
        </p:txBody>
      </p:sp>
    </p:spTree>
    <p:extLst>
      <p:ext uri="{BB962C8B-B14F-4D97-AF65-F5344CB8AC3E}">
        <p14:creationId xmlns:p14="http://schemas.microsoft.com/office/powerpoint/2010/main" val="1013166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9218-2ABE-6BF8-104B-A03C664F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32676994-7589-D74D-D2A6-3336923399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pt-BR" sz="2400" dirty="0"/>
              <a:t>PADRÕES DE TRANSMISSÃO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0C684CA-2E75-CA2D-AD47-A46DB3ED221B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335DCDD-E1EE-B215-FF9F-E92A7A7596B6}"/>
              </a:ext>
            </a:extLst>
          </p:cNvPr>
          <p:cNvSpPr txBox="1"/>
          <p:nvPr/>
        </p:nvSpPr>
        <p:spPr>
          <a:xfrm>
            <a:off x="662473" y="2118050"/>
            <a:ext cx="7212564" cy="165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Conseguem me dizer a diferença entre os dois padrões?</a:t>
            </a:r>
          </a:p>
          <a:p>
            <a:pPr lvl="1" algn="ctr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pt-BR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DVB-T: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Transmissão terrestre.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DVB-C: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Transmissão via cabo.</a:t>
            </a:r>
          </a:p>
        </p:txBody>
      </p:sp>
    </p:spTree>
    <p:extLst>
      <p:ext uri="{BB962C8B-B14F-4D97-AF65-F5344CB8AC3E}">
        <p14:creationId xmlns:p14="http://schemas.microsoft.com/office/powerpoint/2010/main" val="77076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92FC2-FFDB-9268-4EE4-8AF03BBD0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DA0C675-6F20-E9AB-5FB2-60DE611D3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pt-BR" sz="2400" dirty="0"/>
              <a:t>PADRÕES DE TRANSMISSÃO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02081B1-45E4-9972-8C8C-DCD8091C5C85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C53774-DD0D-8075-E088-10BC9FDA3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88" y="2434890"/>
            <a:ext cx="8708962" cy="22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62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A3E68-C5C6-7579-C20A-EF14509E1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37D3FFA3-8C8C-F864-EF74-660F617AE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397226" y="629817"/>
            <a:ext cx="8647112" cy="112077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pt-BR" sz="2400" dirty="0"/>
              <a:t>OBJETIVOS INICIAIS – 1991 A 1992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FA6D47-580C-2686-D497-5D2C231C4EFE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C775619-146A-47D8-A5FB-15885FD6AD58}"/>
              </a:ext>
            </a:extLst>
          </p:cNvPr>
          <p:cNvSpPr txBox="1"/>
          <p:nvPr/>
        </p:nvSpPr>
        <p:spPr>
          <a:xfrm>
            <a:off x="522514" y="2024743"/>
            <a:ext cx="8192277" cy="351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pt-BR" dirty="0">
              <a:effectLst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Oferecer TV digital com imagens HDTV via redes terrestres.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Transmissão de múltiplos programas de TV por um único canal.</a:t>
            </a: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Transmissão para receptores de baixo custo (incluindo móveis) com recepção estável.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Boa qualidade de transmissão em veículos em movimento.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Manter características digitais como estabilidade de recepção e distribuição simples via redes de telecomunicações.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sz="16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Especificação de método de criptografia seguro para serviços comerciais.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pt-BR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059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235C-29D8-89A5-24DF-463D5D21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35D156EE-7E3E-396A-EDE1-4653B1639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pt-BR" sz="2400" dirty="0"/>
              <a:t>CARACTERÍSTICA do </a:t>
            </a:r>
            <a:r>
              <a:rPr lang="en-US" altLang="pt-BR" sz="2400" dirty="0" err="1"/>
              <a:t>sistema</a:t>
            </a: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9F66A1-C262-59E4-8232-965E68D2D128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868BA2-C43D-E2ED-4935-B11ACEFBA75B}"/>
              </a:ext>
            </a:extLst>
          </p:cNvPr>
          <p:cNvSpPr txBox="1"/>
          <p:nvPr/>
        </p:nvSpPr>
        <p:spPr>
          <a:xfrm>
            <a:off x="688132" y="2199615"/>
            <a:ext cx="7597451" cy="3148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Codificação de Áudio e Vídeo - MPEG-2: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projeto DVB escolheu o padrão MPEG-2 para codificação de áudio e vídeo e multiplexação de sinais, visando uma solução global.</a:t>
            </a: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MPEG-2 </a:t>
            </a:r>
            <a:r>
              <a:rPr lang="pt-BR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Video</a:t>
            </a: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Baseia-se em algoritmos assimétricos e flexíveis, permitindo diferentes níveis de resolução. Uma estrutura hierárquica de perfis e níveis garante a interoperabilidade.</a:t>
            </a:r>
          </a:p>
          <a:p>
            <a:pPr marL="742950" lvl="1" indent="-28575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MPEG-2 </a:t>
            </a:r>
            <a:r>
              <a:rPr lang="pt-BR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Audio</a:t>
            </a:r>
            <a:r>
              <a:rPr lang="pt-B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pt-B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Utilizado para codificação de áudio. Desde 2004, o DVB também suporta H.264/AVC para vídeo e MPEG-4 AAC para áudio, que são mais eficientes, especialmente em redes IP.</a:t>
            </a:r>
          </a:p>
        </p:txBody>
      </p:sp>
    </p:spTree>
    <p:extLst>
      <p:ext uri="{BB962C8B-B14F-4D97-AF65-F5344CB8AC3E}">
        <p14:creationId xmlns:p14="http://schemas.microsoft.com/office/powerpoint/2010/main" val="2782608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EFF7D-B897-B6AB-247B-4821F674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12326611-BACB-BF8B-FB0A-1F3D4D4BF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pt-BR" sz="2400" dirty="0"/>
              <a:t>CARACTERÍSTICA do </a:t>
            </a:r>
            <a:r>
              <a:rPr lang="en-US" altLang="pt-BR" sz="2400" dirty="0" err="1"/>
              <a:t>sistema</a:t>
            </a: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FA999DB-B2B6-904D-F52D-F51108F4A6AA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4FE3F1-C4EF-76E3-6C37-40871870160B}"/>
              </a:ext>
            </a:extLst>
          </p:cNvPr>
          <p:cNvSpPr txBox="1"/>
          <p:nvPr/>
        </p:nvSpPr>
        <p:spPr>
          <a:xfrm>
            <a:off x="689589" y="3340361"/>
            <a:ext cx="77648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que seria os algoritmos assimétricos no MPEG-2 </a:t>
            </a:r>
            <a:r>
              <a:rPr lang="pt-BR" sz="2400" dirty="0" err="1"/>
              <a:t>Video</a:t>
            </a:r>
            <a:r>
              <a:rPr lang="pt-BR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98629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1073A-83F8-5CF8-6DD1-36FE9C52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910F7D95-B5D4-9402-1809-4029D1A1A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pt-BR" sz="2400" dirty="0"/>
              <a:t>CARACTERÍSTICA do </a:t>
            </a:r>
            <a:r>
              <a:rPr lang="en-US" altLang="pt-BR" sz="2400" dirty="0" err="1"/>
              <a:t>sistema</a:t>
            </a: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5AADFD5-4CCC-B68E-2A07-338F654F9834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5F228F4-30D5-9F72-0FDB-E1846D0F59A1}"/>
              </a:ext>
            </a:extLst>
          </p:cNvPr>
          <p:cNvSpPr txBox="1"/>
          <p:nvPr/>
        </p:nvSpPr>
        <p:spPr>
          <a:xfrm>
            <a:off x="689589" y="3340361"/>
            <a:ext cx="77648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que seria os algoritmos assimétricos no MPEG-2 </a:t>
            </a:r>
            <a:r>
              <a:rPr lang="pt-BR" sz="2400" dirty="0" err="1"/>
              <a:t>Video</a:t>
            </a:r>
            <a:r>
              <a:rPr lang="pt-BR" sz="2400" dirty="0"/>
              <a:t>?</a:t>
            </a:r>
          </a:p>
          <a:p>
            <a:pPr algn="ctr"/>
            <a:endParaRPr lang="pt-BR" sz="2400" dirty="0"/>
          </a:p>
          <a:p>
            <a:pPr algn="ctr"/>
            <a:r>
              <a:rPr lang="pt-BR" sz="24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(custo de codificação maior que o de decodificação)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28071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12B46-DB4E-3321-82DE-77A3B6BE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E20A7E9-F232-2CEF-1086-546ECDF5A9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/>
              <a:t>DVB e Internet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C8C5EE8-D935-B6C9-3BE6-6BDA293EDF61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910E79-AC05-0E83-EE5E-2AB3C72B23CA}"/>
              </a:ext>
            </a:extLst>
          </p:cNvPr>
          <p:cNvSpPr txBox="1"/>
          <p:nvPr/>
        </p:nvSpPr>
        <p:spPr>
          <a:xfrm>
            <a:off x="615821" y="2369206"/>
            <a:ext cx="7912358" cy="3148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DVB IP Handbook (2004):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Aprovado para permitir ao DVB dar suporte às primeiras distribuições comerciais de serviços de televisão via Internet (IPTV).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Objetivo: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Especificar tecnologias na interface entre uma rede baseada em IP e um receptor de TV digital, permitindo a distribuição de serviços de TV em redes IP (IPTV) e a produção em massa de receptores IPTV.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Serviços Abrangidos (Primeira Edição):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Transmissão ao vivo (LMB - Live Media Broadcast), transmissão com ferramentas (pausar/avançar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stream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A/V), e vídeo sob demanda.</a:t>
            </a:r>
          </a:p>
        </p:txBody>
      </p:sp>
    </p:spTree>
    <p:extLst>
      <p:ext uri="{BB962C8B-B14F-4D97-AF65-F5344CB8AC3E}">
        <p14:creationId xmlns:p14="http://schemas.microsoft.com/office/powerpoint/2010/main" val="3025540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9CF02-9661-2201-3391-AA11342C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26AE3AE-E6BD-7A4E-7EA3-41CB102DA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/>
              <a:t>interatividade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D8140CA-E1BD-9CF0-9095-C6FE94A4A8C2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9BE5BC-951C-9BF8-4C95-366B894FA528}"/>
              </a:ext>
            </a:extLst>
          </p:cNvPr>
          <p:cNvSpPr txBox="1"/>
          <p:nvPr/>
        </p:nvSpPr>
        <p:spPr>
          <a:xfrm>
            <a:off x="861915" y="2327874"/>
            <a:ext cx="7628942" cy="356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Novos Serviços: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E-commerce, programas interativos, acesso à internet são possíveis com a TV digital e o canal de retorno.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Canal de Retorno/Interativo: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Permite a comunicação reversa dos receptores, conectando o usuário final ao provedor de serviços interativos.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Taxas de Dados: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Tipicamente 20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Mbit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/s por canal em redes terrestres, e até 38 </a:t>
            </a:r>
            <a:r>
              <a:rPr lang="pt-BR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Mbit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/s por canal em redes de cabo ou satélite.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BR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Especificações de Canais de Retorno DVB:</a:t>
            </a:r>
            <a:r>
              <a:rPr lang="pt-B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documento lista várias especificações para canais de retorno interativos, incluindo PSTN, DECT, GSM, GPRS, CATV, Satélite e Terrestre.</a:t>
            </a:r>
          </a:p>
        </p:txBody>
      </p:sp>
    </p:spTree>
    <p:extLst>
      <p:ext uri="{BB962C8B-B14F-4D97-AF65-F5344CB8AC3E}">
        <p14:creationId xmlns:p14="http://schemas.microsoft.com/office/powerpoint/2010/main" val="1185540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95D1C-20A3-6977-C542-2EDF256E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EF5D3B96-714F-FE53-5D1C-236D36ED01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 err="1"/>
              <a:t>dvb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B741677-77BE-8B22-C24A-9F8850085412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2C6DF6-3931-4A5C-FE9E-F5B95A6806C0}"/>
              </a:ext>
            </a:extLst>
          </p:cNvPr>
          <p:cNvSpPr txBox="1"/>
          <p:nvPr/>
        </p:nvSpPr>
        <p:spPr>
          <a:xfrm>
            <a:off x="1296955" y="2855167"/>
            <a:ext cx="6774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 Padrão DVB foi usado no Brasil?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O Padrão DVB foi usado na TV digital brasileira?</a:t>
            </a:r>
          </a:p>
        </p:txBody>
      </p:sp>
    </p:spTree>
    <p:extLst>
      <p:ext uri="{BB962C8B-B14F-4D97-AF65-F5344CB8AC3E}">
        <p14:creationId xmlns:p14="http://schemas.microsoft.com/office/powerpoint/2010/main" val="3573598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F5CD-63B5-B6A0-302D-EE590D56E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14288AC-A68F-8853-1D51-86D4B92CD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 err="1"/>
              <a:t>dvb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FB245B9-4609-4B32-08D9-449FC8C3C888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6C417F-850D-0957-6488-E9B5A1DA4792}"/>
              </a:ext>
            </a:extLst>
          </p:cNvPr>
          <p:cNvSpPr txBox="1"/>
          <p:nvPr/>
        </p:nvSpPr>
        <p:spPr>
          <a:xfrm>
            <a:off x="662473" y="2239347"/>
            <a:ext cx="7408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TV por assinatura via satélite</a:t>
            </a:r>
            <a:br>
              <a:rPr lang="pt-BR" sz="2400" dirty="0"/>
            </a:br>
            <a:r>
              <a:rPr lang="pt-BR" sz="2400" dirty="0"/>
              <a:t>Alguns sistemas de TV paga, especialmente via satélite (como SKY, Claro TV, Oi TV), utilizam </a:t>
            </a:r>
            <a:r>
              <a:rPr lang="pt-BR" sz="2400" b="1" dirty="0"/>
              <a:t>DVB-S.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109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FF81-AAD1-8CF8-88FC-59C1A532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25DF28E-D654-071A-9CBC-6F3DD7B192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481202" y="751115"/>
            <a:ext cx="8647112" cy="1120775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 err="1"/>
              <a:t>dvb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B46F4DA-B63C-BAB8-F473-591CD3DBC676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54AF6B6-F6AF-2362-AD64-C2D85C6BF125}"/>
              </a:ext>
            </a:extLst>
          </p:cNvPr>
          <p:cNvSpPr txBox="1"/>
          <p:nvPr/>
        </p:nvSpPr>
        <p:spPr>
          <a:xfrm>
            <a:off x="662473" y="2239347"/>
            <a:ext cx="7977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O padrão DVB não foi usado oficialmente como padrão de TV digital terrestre aberta, onde o Brasil optou pelo ISDB-Tb.</a:t>
            </a:r>
          </a:p>
        </p:txBody>
      </p:sp>
    </p:spTree>
    <p:extLst>
      <p:ext uri="{BB962C8B-B14F-4D97-AF65-F5344CB8AC3E}">
        <p14:creationId xmlns:p14="http://schemas.microsoft.com/office/powerpoint/2010/main" val="2273777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3CC6F-819C-D8FE-A2F9-49CE4BD96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0DD70DA-5E46-EF1B-4064-EEAC6BC35D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858417" y="755779"/>
            <a:ext cx="7520474" cy="1004144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/>
              <a:t>Situação atual da </a:t>
            </a:r>
            <a:r>
              <a:rPr lang="pt-BR" sz="2400" b="1" dirty="0" err="1"/>
              <a:t>europa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823F082-2BC4-F7DE-3FB2-CB9C773B29BF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D057C6-1BA0-5C47-B068-28F56EBCA7E9}"/>
              </a:ext>
            </a:extLst>
          </p:cNvPr>
          <p:cNvSpPr txBox="1"/>
          <p:nvPr/>
        </p:nvSpPr>
        <p:spPr>
          <a:xfrm>
            <a:off x="709127" y="2108718"/>
            <a:ext cx="7904779" cy="1477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b="1" dirty="0"/>
              <a:t>DVB-T (Digital </a:t>
            </a:r>
            <a:r>
              <a:rPr lang="pt-BR" b="1" dirty="0" err="1"/>
              <a:t>Video</a:t>
            </a:r>
            <a:r>
              <a:rPr lang="pt-BR" b="1" dirty="0"/>
              <a:t> Broadcasting — </a:t>
            </a:r>
            <a:r>
              <a:rPr lang="pt-BR" b="1" dirty="0" err="1"/>
              <a:t>Terrestrial</a:t>
            </a:r>
            <a:r>
              <a:rPr lang="pt-BR" b="1" dirty="0"/>
              <a:t>):</a:t>
            </a:r>
            <a:endParaRPr lang="pt-BR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pt-BR" dirty="0"/>
              <a:t>Foi a </a:t>
            </a:r>
            <a:r>
              <a:rPr lang="pt-BR" b="1" dirty="0"/>
              <a:t>primeira versão</a:t>
            </a:r>
            <a:r>
              <a:rPr lang="pt-BR" dirty="0"/>
              <a:t> amplamente adotada na Europa para TV digital terrestre, a partir do final dos anos 1990.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pt-BR" dirty="0"/>
              <a:t>Muitos países começaram suas transmissões com esse padrão, usando o codec </a:t>
            </a:r>
            <a:r>
              <a:rPr lang="pt-BR" b="1" dirty="0"/>
              <a:t>MPEG-2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168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B295A-2217-5CB1-34B2-714B93D8D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111CB9FA-5F81-35BE-7B4C-D71777261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858417" y="755779"/>
            <a:ext cx="7520474" cy="1004144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/>
              <a:t>Situação atual da </a:t>
            </a:r>
            <a:r>
              <a:rPr lang="pt-BR" sz="2400" b="1" dirty="0" err="1"/>
              <a:t>europa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E70075-3FB5-1727-1687-1E273A6459EA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548255-DCC4-014B-5A7D-2E04EE0EBF2E}"/>
              </a:ext>
            </a:extLst>
          </p:cNvPr>
          <p:cNvSpPr txBox="1"/>
          <p:nvPr/>
        </p:nvSpPr>
        <p:spPr>
          <a:xfrm>
            <a:off x="709127" y="2108718"/>
            <a:ext cx="79047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DVB-T2 (segunda geração):</a:t>
            </a:r>
            <a:endParaRPr lang="pt-BR" dirty="0"/>
          </a:p>
          <a:p>
            <a:pPr lvl="1" algn="just"/>
            <a:r>
              <a:rPr lang="pt-BR" dirty="0"/>
              <a:t>É a </a:t>
            </a:r>
            <a:r>
              <a:rPr lang="pt-BR" b="1" dirty="0"/>
              <a:t>evolução natural do DVB-T</a:t>
            </a:r>
            <a:r>
              <a:rPr lang="pt-BR" dirty="0"/>
              <a:t>, oferecendo </a:t>
            </a:r>
            <a:r>
              <a:rPr lang="pt-BR" b="1" dirty="0"/>
              <a:t>maior eficiência espectral</a:t>
            </a:r>
            <a:r>
              <a:rPr lang="pt-BR" dirty="0"/>
              <a:t>, melhor qualidade de imagem (HD e 4K) e suporte ao codec </a:t>
            </a:r>
            <a:r>
              <a:rPr lang="pt-BR" b="1" dirty="0"/>
              <a:t>H.264/AVC</a:t>
            </a:r>
            <a:r>
              <a:rPr lang="pt-BR" dirty="0"/>
              <a:t> e </a:t>
            </a:r>
            <a:r>
              <a:rPr lang="pt-BR" b="1" dirty="0"/>
              <a:t>H.265/HEVC</a:t>
            </a:r>
            <a:r>
              <a:rPr lang="pt-BR" dirty="0"/>
              <a:t>.</a:t>
            </a:r>
          </a:p>
          <a:p>
            <a:pPr lvl="1" algn="just"/>
            <a:r>
              <a:rPr lang="pt-BR" dirty="0"/>
              <a:t>A maioria dos países europeus já </a:t>
            </a:r>
            <a:r>
              <a:rPr lang="pt-BR" b="1" dirty="0"/>
              <a:t>migrou ou está em processo de migração para o DVB-T2</a:t>
            </a:r>
            <a:r>
              <a:rPr lang="pt-BR" dirty="0"/>
              <a:t>.</a:t>
            </a:r>
          </a:p>
          <a:p>
            <a:pPr lvl="1" algn="just"/>
            <a:r>
              <a:rPr lang="pt-BR" dirty="0"/>
              <a:t>Exemplos de países que usam o </a:t>
            </a:r>
            <a:r>
              <a:rPr lang="pt-BR" b="1" dirty="0"/>
              <a:t>DVB-T2</a:t>
            </a:r>
            <a:r>
              <a:rPr lang="pt-BR" dirty="0"/>
              <a:t>: Alemanha, Reino Unido, Itália, França, Espanha, Suécia, Finlândia, entre outros.</a:t>
            </a:r>
          </a:p>
          <a:p>
            <a:pPr lvl="1" algn="just"/>
            <a:endParaRPr lang="pt-BR" dirty="0"/>
          </a:p>
          <a:p>
            <a:pPr lvl="1" algn="ctr"/>
            <a:r>
              <a:rPr lang="pt-BR" b="1" dirty="0"/>
              <a:t>DVB-T2 faz uso de qual modulação?</a:t>
            </a:r>
          </a:p>
          <a:p>
            <a:pPr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6756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A1B4-105B-89D8-E4FF-77151973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E694F65-682C-B42F-8459-1F523262B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858417" y="755779"/>
            <a:ext cx="7520474" cy="1004144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/>
              <a:t>Situação atual da </a:t>
            </a:r>
            <a:r>
              <a:rPr lang="pt-BR" sz="2400" b="1" dirty="0" err="1"/>
              <a:t>europa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97DC045-E98D-5CD6-B395-B5C296F7B417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18C0EE9-CB7C-ECF1-B00B-3E0BB0890256}"/>
              </a:ext>
            </a:extLst>
          </p:cNvPr>
          <p:cNvSpPr txBox="1"/>
          <p:nvPr/>
        </p:nvSpPr>
        <p:spPr>
          <a:xfrm>
            <a:off x="494523" y="2302508"/>
            <a:ext cx="790477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endParaRPr lang="pt-BR" dirty="0"/>
          </a:p>
          <a:p>
            <a:pPr lvl="1"/>
            <a:r>
              <a:rPr lang="pt-BR" b="1" dirty="0"/>
              <a:t>DVB-T2 faz uso de qual modulação?</a:t>
            </a:r>
          </a:p>
          <a:p>
            <a:pPr lvl="1"/>
            <a:endParaRPr lang="pt-BR" b="1" dirty="0"/>
          </a:p>
          <a:p>
            <a:pPr lvl="1"/>
            <a:r>
              <a:rPr lang="pt-BR" dirty="0"/>
              <a:t>Este sistema transmite áudio digital compactado, usando modulação OFDM . A taxa de bits mais alta oferecida, em relação ao seu antecessor DVB-T, o torna um sistema adequado para transportar sinais HD no canal de TV terrestre.</a:t>
            </a:r>
          </a:p>
        </p:txBody>
      </p:sp>
    </p:spTree>
    <p:extLst>
      <p:ext uri="{BB962C8B-B14F-4D97-AF65-F5344CB8AC3E}">
        <p14:creationId xmlns:p14="http://schemas.microsoft.com/office/powerpoint/2010/main" val="2832625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4E068-2992-FCA4-78C1-610865EC0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906E8EA-78D6-5B48-B0EE-2C3472566E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858417" y="755779"/>
            <a:ext cx="7520474" cy="1004144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/>
              <a:t>Situação atual da </a:t>
            </a:r>
            <a:r>
              <a:rPr lang="pt-BR" sz="2400" b="1" dirty="0" err="1"/>
              <a:t>europa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54248DB-967B-A85C-A121-CB92924FF5BA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26B8334-1F4E-BAC9-3344-18D50ADB8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52" y="2176333"/>
            <a:ext cx="7856376" cy="449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257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9354D-85BE-6BD2-EAFD-D1C8B844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522D1B1-B754-8421-1E19-94300D412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858417" y="755779"/>
            <a:ext cx="7520474" cy="1004144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/>
              <a:t>Situação atual da </a:t>
            </a:r>
            <a:r>
              <a:rPr lang="pt-BR" sz="2400" b="1" dirty="0" err="1"/>
              <a:t>europa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AA3D0F-5E36-D2F4-F0FA-8249F1180344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15EE5BB-B8E0-E74A-2111-1A8449A5B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19" y="2379305"/>
            <a:ext cx="7948996" cy="346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66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77678-14BF-1956-1C51-FEBFDB3C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11D01A7-ED85-F721-5772-1F10AECD0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858417" y="755779"/>
            <a:ext cx="7520474" cy="1004144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/>
              <a:t>Dvb-t2 no carro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48FF709-A91B-3D07-75C7-0CEA2184F30C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5800D40-9FDF-CB26-E839-A09C6367E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71" y="2410761"/>
            <a:ext cx="8033657" cy="369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515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5DDA-CF4B-1082-BA14-879536E9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9FDFFD2-A8F8-7319-6C87-16F13DF7F2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858417" y="755779"/>
            <a:ext cx="7520474" cy="1004144"/>
          </a:xfrm>
        </p:spPr>
        <p:txBody>
          <a:bodyPr>
            <a:noAutofit/>
          </a:bodyPr>
          <a:lstStyle/>
          <a:p>
            <a:pPr algn="ctr"/>
            <a:r>
              <a:rPr lang="pt-BR" sz="2400" b="1" dirty="0"/>
              <a:t>Atividade</a:t>
            </a:r>
            <a:br>
              <a:rPr lang="pt-BR" dirty="0"/>
            </a:br>
            <a:endParaRPr lang="en-US" alt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B438FE-320B-28C3-7A3E-30AC1BC08F47}"/>
              </a:ext>
            </a:extLst>
          </p:cNvPr>
          <p:cNvSpPr txBox="1"/>
          <p:nvPr/>
        </p:nvSpPr>
        <p:spPr>
          <a:xfrm flipV="1">
            <a:off x="1201898" y="6353746"/>
            <a:ext cx="7764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B50CDEE-3081-0B50-926D-BE9C08D778DD}"/>
              </a:ext>
            </a:extLst>
          </p:cNvPr>
          <p:cNvSpPr txBox="1"/>
          <p:nvPr/>
        </p:nvSpPr>
        <p:spPr>
          <a:xfrm>
            <a:off x="709127" y="2108718"/>
            <a:ext cx="7904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b="1" dirty="0"/>
              <a:t>1. Por que o Brasil não adotou o DVB como padrão?</a:t>
            </a:r>
          </a:p>
        </p:txBody>
      </p:sp>
    </p:spTree>
    <p:extLst>
      <p:ext uri="{BB962C8B-B14F-4D97-AF65-F5344CB8AC3E}">
        <p14:creationId xmlns:p14="http://schemas.microsoft.com/office/powerpoint/2010/main" val="52409180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4652</TotalTime>
  <Words>904</Words>
  <Application>Microsoft Office PowerPoint</Application>
  <PresentationFormat>Apresentação na tela (4:3)</PresentationFormat>
  <Paragraphs>96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2" baseType="lpstr">
      <vt:lpstr>Aptos</vt:lpstr>
      <vt:lpstr>Arial</vt:lpstr>
      <vt:lpstr>Calibri</vt:lpstr>
      <vt:lpstr>Courier New</vt:lpstr>
      <vt:lpstr>Gill Sans MT</vt:lpstr>
      <vt:lpstr>Symbol</vt:lpstr>
      <vt:lpstr>Times New Roman</vt:lpstr>
      <vt:lpstr>Wingdings</vt:lpstr>
      <vt:lpstr>Wingdings 2</vt:lpstr>
      <vt:lpstr>Dividendo</vt:lpstr>
      <vt:lpstr> tv digital</vt:lpstr>
      <vt:lpstr>Padrão DVB</vt:lpstr>
      <vt:lpstr>FOCO E APLICAÇÃO</vt:lpstr>
      <vt:lpstr>PADRÕES DE TRANSMISSÃO</vt:lpstr>
      <vt:lpstr>PADRÕES DE TRANSMISSÃO</vt:lpstr>
      <vt:lpstr>PADRÕES DE TRANSMISSÃO</vt:lpstr>
      <vt:lpstr>OBJETIVOS INICIAIS – 1991 A 1992</vt:lpstr>
      <vt:lpstr>CARACTERÍSTICA do sistema</vt:lpstr>
      <vt:lpstr>CARACTERÍSTICA do sistema</vt:lpstr>
      <vt:lpstr>CARACTERÍSTICA do sistema</vt:lpstr>
      <vt:lpstr>DVB e Internet </vt:lpstr>
      <vt:lpstr>interatividade </vt:lpstr>
      <vt:lpstr>dvb </vt:lpstr>
      <vt:lpstr>dvb </vt:lpstr>
      <vt:lpstr>dvb </vt:lpstr>
      <vt:lpstr>Situação atual da europa </vt:lpstr>
      <vt:lpstr>Situação atual da europa </vt:lpstr>
      <vt:lpstr>Situação atual da europa </vt:lpstr>
      <vt:lpstr>Situação atual da europa </vt:lpstr>
      <vt:lpstr>Situação atual da europa </vt:lpstr>
      <vt:lpstr>Dvb-t2 no carro </vt:lpstr>
      <vt:lpstr>Atividade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Pinheiro de Moura</dc:creator>
  <cp:lastModifiedBy>Thiago Pierre</cp:lastModifiedBy>
  <cp:revision>154</cp:revision>
  <dcterms:created xsi:type="dcterms:W3CDTF">2017-08-18T18:18:13Z</dcterms:created>
  <dcterms:modified xsi:type="dcterms:W3CDTF">2025-07-01T20:57:48Z</dcterms:modified>
</cp:coreProperties>
</file>